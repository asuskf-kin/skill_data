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5" r:id="rId9"/>
    <p:sldId id="296" r:id="rId10"/>
    <p:sldId id="297" r:id="rId11"/>
    <p:sldId id="298" r:id="rId12"/>
    <p:sldId id="267" r:id="rId13"/>
    <p:sldId id="299" r:id="rId14"/>
    <p:sldId id="269" r:id="rId15"/>
    <p:sldId id="270" r:id="rId16"/>
    <p:sldId id="271" r:id="rId17"/>
    <p:sldId id="292" r:id="rId18"/>
    <p:sldId id="294" r:id="rId19"/>
    <p:sldId id="300" r:id="rId20"/>
    <p:sldId id="301" r:id="rId21"/>
    <p:sldId id="302" r:id="rId22"/>
    <p:sldId id="277" r:id="rId23"/>
    <p:sldId id="278" r:id="rId24"/>
  </p:sldIdLst>
  <p:sldSz cx="9144000" cy="5143500" type="screen16x9"/>
  <p:notesSz cx="6858000" cy="9144000"/>
  <p:embeddedFontLst>
    <p:embeddedFont>
      <p:font typeface="Albert Sans" panose="020B0604020202020204" charset="0"/>
      <p:regular r:id="rId26"/>
      <p:bold r:id="rId27"/>
      <p:italic r:id="rId28"/>
      <p:boldItalic r:id="rId29"/>
    </p:embeddedFont>
    <p:embeddedFont>
      <p:font typeface="Albert Sans Light" panose="020B0604020202020204" charset="0"/>
      <p:regular r:id="rId30"/>
      <p:bold r:id="rId31"/>
      <p:italic r:id="rId32"/>
      <p:boldItalic r:id="rId33"/>
    </p:embeddedFont>
    <p:embeddedFont>
      <p:font typeface="Albert Sans Medium" panose="020B0604020202020204" charset="0"/>
      <p:regular r:id="rId34"/>
      <p:bold r:id="rId35"/>
      <p:italic r:id="rId36"/>
      <p:boldItalic r:id="rId37"/>
    </p:embeddedFont>
    <p:embeddedFont>
      <p:font typeface="Albert Sans SemiBold" panose="020B0604020202020204" charset="0"/>
      <p:regular r:id="rId38"/>
      <p:bold r:id="rId39"/>
      <p:italic r:id="rId40"/>
      <p:boldItalic r:id="rId41"/>
    </p:embeddedFont>
    <p:embeddedFont>
      <p:font typeface="Open Sans" panose="020B0606030504020204" pitchFamily="34" charset="0"/>
      <p:regular r:id="rId42"/>
      <p:bold r:id="rId43"/>
      <p:italic r:id="rId44"/>
      <p:boldItalic r:id="rId45"/>
    </p:embeddedFont>
    <p:embeddedFont>
      <p:font typeface="Poppins" panose="00000500000000000000" pitchFamily="2" charset="0"/>
      <p:regular r:id="rId46"/>
      <p:bold r:id="rId47"/>
      <p:italic r:id="rId48"/>
      <p:boldItalic r:id="rId49"/>
    </p:embeddedFont>
    <p:embeddedFont>
      <p:font typeface="Poppins Light" panose="00000400000000000000" pitchFamily="2" charset="0"/>
      <p:regular r:id="rId50"/>
      <p:bold r:id="rId51"/>
      <p:italic r:id="rId52"/>
      <p:boldItalic r:id="rId53"/>
    </p:embeddedFont>
    <p:embeddedFont>
      <p:font typeface="Space Grotesk" panose="020B0604020202020204" charset="0"/>
      <p:regular r:id="rId54"/>
      <p:bold r:id="rId55"/>
    </p:embeddedFont>
    <p:embeddedFont>
      <p:font typeface="Space Grotesk Medium" panose="020B0604020202020204" charset="0"/>
      <p:regular r:id="rId56"/>
      <p:bold r:id="rId57"/>
    </p:embeddedFont>
    <p:embeddedFont>
      <p:font typeface="Work Sans" pitchFamily="2" charset="0"/>
      <p:regular r:id="rId58"/>
      <p:bold r:id="rId59"/>
      <p:italic r:id="rId60"/>
      <p:boldItalic r:id="rId61"/>
    </p:embeddedFont>
    <p:embeddedFont>
      <p:font typeface="Work Sans Black" pitchFamily="2" charset="0"/>
      <p:bold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gjKpaPO1NhjhUk+DC4EBdw+eV9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FCE52B-76FC-4316-819C-EA5C322EE713}">
  <a:tblStyle styleId="{F1FCE52B-76FC-4316-819C-EA5C322EE71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1F7FD0-BE20-48CA-BB3D-D24C29E7583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font" Target="fonts/font22.fntdata"/><Relationship Id="rId50" Type="http://schemas.openxmlformats.org/officeDocument/2006/relationships/font" Target="fonts/font25.fntdata"/><Relationship Id="rId55" Type="http://schemas.openxmlformats.org/officeDocument/2006/relationships/font" Target="fonts/font30.fntdata"/><Relationship Id="rId63" Type="http://schemas.openxmlformats.org/officeDocument/2006/relationships/font" Target="fonts/font38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3" Type="http://schemas.openxmlformats.org/officeDocument/2006/relationships/font" Target="fonts/font28.fntdata"/><Relationship Id="rId58" Type="http://schemas.openxmlformats.org/officeDocument/2006/relationships/font" Target="fonts/font33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36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font" Target="fonts/font23.fntdata"/><Relationship Id="rId56" Type="http://schemas.openxmlformats.org/officeDocument/2006/relationships/font" Target="fonts/font31.fntdata"/><Relationship Id="rId64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2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font" Target="fonts/font21.fntdata"/><Relationship Id="rId59" Type="http://schemas.openxmlformats.org/officeDocument/2006/relationships/font" Target="fonts/font34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54" Type="http://schemas.openxmlformats.org/officeDocument/2006/relationships/font" Target="fonts/font29.fntdata"/><Relationship Id="rId62" Type="http://schemas.openxmlformats.org/officeDocument/2006/relationships/font" Target="fonts/font3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font" Target="fonts/font24.fntdata"/><Relationship Id="rId57" Type="http://schemas.openxmlformats.org/officeDocument/2006/relationships/font" Target="fonts/font32.fntdata"/><Relationship Id="rId10" Type="http://schemas.openxmlformats.org/officeDocument/2006/relationships/slide" Target="slides/slide9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52" Type="http://schemas.openxmlformats.org/officeDocument/2006/relationships/font" Target="fonts/font27.fntdata"/><Relationship Id="rId60" Type="http://schemas.openxmlformats.org/officeDocument/2006/relationships/font" Target="fonts/font35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39145f9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3939145f9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39145f93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939145f930_0_74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/>
          </a:p>
        </p:txBody>
      </p:sp>
      <p:sp>
        <p:nvSpPr>
          <p:cNvPr id="83" name="Google Shape;83;g3939145f930_0_74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E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39145f930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939145f930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39145f930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939145f930_0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39145f930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939145f930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39145f930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939145f930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2017eaa25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392017eaa25_0_15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/>
          </a:p>
        </p:txBody>
      </p:sp>
      <p:sp>
        <p:nvSpPr>
          <p:cNvPr id="170" name="Google Shape;170;g392017eaa25_0_15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E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93B99BE7-CAF9-BAF6-E10A-0953C9A42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324d589d8_0_0:notes">
            <a:extLst>
              <a:ext uri="{FF2B5EF4-FFF2-40B4-BE49-F238E27FC236}">
                <a16:creationId xmlns:a16="http://schemas.microsoft.com/office/drawing/2014/main" id="{DE572775-4856-B109-C050-9736E2734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39324d589d8_0_0:notes">
            <a:extLst>
              <a:ext uri="{FF2B5EF4-FFF2-40B4-BE49-F238E27FC236}">
                <a16:creationId xmlns:a16="http://schemas.microsoft.com/office/drawing/2014/main" id="{EA89706F-14EE-753E-8830-F6DF202EC1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900"/>
              <a:t>total portafolio, grafíco de TP quienes ocupan los potencial  //  otra tabla que solo se potencial estimado por cat   ejemplo TP very high ventas actuales y potencial de crecimiento y  quitarle el TOTAL </a:t>
            </a:r>
            <a:endParaRPr sz="900"/>
          </a:p>
        </p:txBody>
      </p:sp>
      <p:sp>
        <p:nvSpPr>
          <p:cNvPr id="183" name="Google Shape;183;g39324d589d8_0_0:notes">
            <a:extLst>
              <a:ext uri="{FF2B5EF4-FFF2-40B4-BE49-F238E27FC236}">
                <a16:creationId xmlns:a16="http://schemas.microsoft.com/office/drawing/2014/main" id="{8E3FE771-B666-FA06-EC50-DEDB43D833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E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3771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CCF15F2-4D17-B042-D04E-0B62744AD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2017eaa25_0_261:notes">
            <a:extLst>
              <a:ext uri="{FF2B5EF4-FFF2-40B4-BE49-F238E27FC236}">
                <a16:creationId xmlns:a16="http://schemas.microsoft.com/office/drawing/2014/main" id="{1052B021-9237-E1AB-EE04-DAABE2D02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92017eaa25_0_261:notes">
            <a:extLst>
              <a:ext uri="{FF2B5EF4-FFF2-40B4-BE49-F238E27FC236}">
                <a16:creationId xmlns:a16="http://schemas.microsoft.com/office/drawing/2014/main" id="{2D2EB4C6-BF5D-1DC8-B97C-C8C70AFFD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/>
          </a:p>
        </p:txBody>
      </p:sp>
      <p:sp>
        <p:nvSpPr>
          <p:cNvPr id="194" name="Google Shape;194;g392017eaa25_0_261:notes">
            <a:extLst>
              <a:ext uri="{FF2B5EF4-FFF2-40B4-BE49-F238E27FC236}">
                <a16:creationId xmlns:a16="http://schemas.microsoft.com/office/drawing/2014/main" id="{5105C4B9-8F3D-409C-4A7A-43076B5E2E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E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69732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B0267E0F-B31B-858B-CE21-60D906EEE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324d589d8_0_66:notes">
            <a:extLst>
              <a:ext uri="{FF2B5EF4-FFF2-40B4-BE49-F238E27FC236}">
                <a16:creationId xmlns:a16="http://schemas.microsoft.com/office/drawing/2014/main" id="{92DEF398-7DFB-D6B8-AE37-7EE64A418E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39324d589d8_0_66:notes">
            <a:extLst>
              <a:ext uri="{FF2B5EF4-FFF2-40B4-BE49-F238E27FC236}">
                <a16:creationId xmlns:a16="http://schemas.microsoft.com/office/drawing/2014/main" id="{1CBBE85C-77F5-3EB8-E446-00D0AC0E46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/>
          </a:p>
        </p:txBody>
      </p:sp>
      <p:sp>
        <p:nvSpPr>
          <p:cNvPr id="206" name="Google Shape;206;g39324d589d8_0_66:notes">
            <a:extLst>
              <a:ext uri="{FF2B5EF4-FFF2-40B4-BE49-F238E27FC236}">
                <a16:creationId xmlns:a16="http://schemas.microsoft.com/office/drawing/2014/main" id="{2584E9C5-595B-4990-EF67-27BB92553B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E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8238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73A91AAF-B18B-3C0C-8198-8E5070F2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324d589d8_0_20:notes">
            <a:extLst>
              <a:ext uri="{FF2B5EF4-FFF2-40B4-BE49-F238E27FC236}">
                <a16:creationId xmlns:a16="http://schemas.microsoft.com/office/drawing/2014/main" id="{ABB0C12F-FFBA-6AE6-049C-CDFB06D30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39324d589d8_0_20:notes">
            <a:extLst>
              <a:ext uri="{FF2B5EF4-FFF2-40B4-BE49-F238E27FC236}">
                <a16:creationId xmlns:a16="http://schemas.microsoft.com/office/drawing/2014/main" id="{B31F6C1C-4F5B-CD09-6AF4-7591CF5A5E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/>
          </a:p>
        </p:txBody>
      </p:sp>
      <p:sp>
        <p:nvSpPr>
          <p:cNvPr id="218" name="Google Shape;218;g39324d589d8_0_20:notes">
            <a:extLst>
              <a:ext uri="{FF2B5EF4-FFF2-40B4-BE49-F238E27FC236}">
                <a16:creationId xmlns:a16="http://schemas.microsoft.com/office/drawing/2014/main" id="{A8A6050E-CD2F-95D9-8DE6-11A763DE44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E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9209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c7ced402f_1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35c7ced402f_1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56BADE71-C411-B6E8-1607-E870DF3F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39145f930_0_642:notes">
            <a:extLst>
              <a:ext uri="{FF2B5EF4-FFF2-40B4-BE49-F238E27FC236}">
                <a16:creationId xmlns:a16="http://schemas.microsoft.com/office/drawing/2014/main" id="{FA8FDCF8-45CD-78BE-6134-16D0966E7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8" name="Google Shape;238;g3939145f930_0_642:notes">
            <a:extLst>
              <a:ext uri="{FF2B5EF4-FFF2-40B4-BE49-F238E27FC236}">
                <a16:creationId xmlns:a16="http://schemas.microsoft.com/office/drawing/2014/main" id="{D15B2860-0CA3-9FFC-AF83-44E29CEB29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65334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39145f930_0_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g3939145f930_0_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39145f930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6" name="Google Shape;296;g3939145f930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39145f930_0_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5" name="Google Shape;325;g3939145f930_0_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46A6133F-B3EF-3943-53CB-7CAE857F8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c7ced402f_1_185:notes">
            <a:extLst>
              <a:ext uri="{FF2B5EF4-FFF2-40B4-BE49-F238E27FC236}">
                <a16:creationId xmlns:a16="http://schemas.microsoft.com/office/drawing/2014/main" id="{24FA8D9A-7336-B3A7-D74B-D5B3F857B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35c7ced402f_1_185:notes">
            <a:extLst>
              <a:ext uri="{FF2B5EF4-FFF2-40B4-BE49-F238E27FC236}">
                <a16:creationId xmlns:a16="http://schemas.microsoft.com/office/drawing/2014/main" id="{C171CD9B-D16B-DC61-FE6D-3FBF7B814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27621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FEC233B9-8284-A132-074D-82290630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324d589d8_0_20:notes">
            <a:extLst>
              <a:ext uri="{FF2B5EF4-FFF2-40B4-BE49-F238E27FC236}">
                <a16:creationId xmlns:a16="http://schemas.microsoft.com/office/drawing/2014/main" id="{136EBC37-8A1C-C00E-9159-B1C84AEC1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39324d589d8_0_20:notes">
            <a:extLst>
              <a:ext uri="{FF2B5EF4-FFF2-40B4-BE49-F238E27FC236}">
                <a16:creationId xmlns:a16="http://schemas.microsoft.com/office/drawing/2014/main" id="{75EDAF65-530D-12EB-2ED0-332D96337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/>
          </a:p>
        </p:txBody>
      </p:sp>
      <p:sp>
        <p:nvSpPr>
          <p:cNvPr id="218" name="Google Shape;218;g39324d589d8_0_20:notes">
            <a:extLst>
              <a:ext uri="{FF2B5EF4-FFF2-40B4-BE49-F238E27FC236}">
                <a16:creationId xmlns:a16="http://schemas.microsoft.com/office/drawing/2014/main" id="{A322CF80-BF67-35C6-2235-8E687C3B16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E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7011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672b7d57d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3c672b7d57d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164a78890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g3164a788909_0_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7" name="Google Shape;427;g3164a788909_0_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-E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2">
  <p:cSld name="TITLE_1_3">
    <p:bg>
      <p:bgPr>
        <a:solidFill>
          <a:srgbClr val="E5FF0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inew">
  <p:cSld name="DEFAUL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ntilla para texto Consulting and AI">
  <p:cSld name="CUSTOM_1_24_4_1_11_6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_2">
  <p:cSld name="TITLE_1_2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5987575" y="1961475"/>
            <a:ext cx="2301300" cy="14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lbert Sans"/>
              <a:buNone/>
              <a:defRPr sz="20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 1">
  <p:cSld name="MAIN_POINT_1_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g363ca9eb1a5_0_2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2" y="0"/>
            <a:ext cx="914403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g363ca9eb1a5_0_294"/>
          <p:cNvSpPr txBox="1">
            <a:spLocks noGrp="1"/>
          </p:cNvSpPr>
          <p:nvPr>
            <p:ph type="title"/>
          </p:nvPr>
        </p:nvSpPr>
        <p:spPr>
          <a:xfrm>
            <a:off x="5682775" y="1961475"/>
            <a:ext cx="2301300" cy="14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" y="0"/>
            <a:ext cx="91440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3468025" y="611775"/>
            <a:ext cx="43797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pace Grotesk"/>
              <a:buNone/>
              <a:defRPr sz="2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pace Grotesk"/>
              <a:buNone/>
              <a:defRPr sz="2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pace Grotesk"/>
              <a:buNone/>
              <a:defRPr sz="2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pace Grotesk"/>
              <a:buNone/>
              <a:defRPr sz="2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pace Grotesk"/>
              <a:buNone/>
              <a:defRPr sz="2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pace Grotesk"/>
              <a:buNone/>
              <a:defRPr sz="2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pace Grotesk"/>
              <a:buNone/>
              <a:defRPr sz="2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pace Grotesk"/>
              <a:buNone/>
              <a:defRPr sz="2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Space Grotesk"/>
              <a:buNone/>
              <a:defRPr sz="2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7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7"/>
          <p:cNvSpPr txBox="1">
            <a:spLocks noGrp="1"/>
          </p:cNvSpPr>
          <p:nvPr>
            <p:ph type="title"/>
          </p:nvPr>
        </p:nvSpPr>
        <p:spPr>
          <a:xfrm>
            <a:off x="2142525" y="3378775"/>
            <a:ext cx="4871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0"/>
            <a:ext cx="9144000" cy="51434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8"/>
          <p:cNvSpPr txBox="1">
            <a:spLocks noGrp="1"/>
          </p:cNvSpPr>
          <p:nvPr>
            <p:ph type="title"/>
          </p:nvPr>
        </p:nvSpPr>
        <p:spPr>
          <a:xfrm>
            <a:off x="311700" y="82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29"/>
          <p:cNvPicPr preferRelativeResize="0"/>
          <p:nvPr/>
        </p:nvPicPr>
        <p:blipFill rotWithShape="1">
          <a:blip r:embed="rId2">
            <a:alphaModFix/>
          </a:blip>
          <a:srcRect l="-1660" t="-2960" r="1660" b="2960"/>
          <a:stretch/>
        </p:blipFill>
        <p:spPr>
          <a:xfrm>
            <a:off x="0" y="-4572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9"/>
          <p:cNvSpPr txBox="1">
            <a:spLocks noGrp="1"/>
          </p:cNvSpPr>
          <p:nvPr>
            <p:ph type="title"/>
          </p:nvPr>
        </p:nvSpPr>
        <p:spPr>
          <a:xfrm>
            <a:off x="1214625" y="1335775"/>
            <a:ext cx="35550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Open Sans"/>
              <a:buNone/>
              <a:defRPr sz="20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29"/>
          <p:cNvSpPr/>
          <p:nvPr/>
        </p:nvSpPr>
        <p:spPr>
          <a:xfrm>
            <a:off x="8572500" y="4881563"/>
            <a:ext cx="3477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" name="Google Shape;44;p29"/>
          <p:cNvGrpSpPr/>
          <p:nvPr/>
        </p:nvGrpSpPr>
        <p:grpSpPr>
          <a:xfrm>
            <a:off x="0" y="4676525"/>
            <a:ext cx="9144000" cy="467100"/>
            <a:chOff x="0" y="4676525"/>
            <a:chExt cx="9144000" cy="467100"/>
          </a:xfrm>
        </p:grpSpPr>
        <p:sp>
          <p:nvSpPr>
            <p:cNvPr id="45" name="Google Shape;45;p29"/>
            <p:cNvSpPr/>
            <p:nvPr/>
          </p:nvSpPr>
          <p:spPr>
            <a:xfrm>
              <a:off x="0" y="4676525"/>
              <a:ext cx="9144000" cy="467100"/>
            </a:xfrm>
            <a:prstGeom prst="rect">
              <a:avLst/>
            </a:prstGeom>
            <a:solidFill>
              <a:srgbClr val="EF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9"/>
            <p:cNvSpPr txBox="1"/>
            <p:nvPr/>
          </p:nvSpPr>
          <p:spPr>
            <a:xfrm>
              <a:off x="1531850" y="4779200"/>
              <a:ext cx="1168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s-ES" sz="900" b="0" i="0" u="none" strike="noStrike" cap="none">
                  <a:solidFill>
                    <a:srgbClr val="999EA6"/>
                  </a:solidFill>
                  <a:latin typeface="Albert Sans Medium"/>
                  <a:ea typeface="Albert Sans Medium"/>
                  <a:cs typeface="Albert Sans Medium"/>
                  <a:sym typeface="Albert Sans Medium"/>
                </a:rPr>
                <a:t>Let knowledge in.</a:t>
              </a:r>
              <a:endParaRPr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endParaRPr>
            </a:p>
          </p:txBody>
        </p:sp>
        <p:sp>
          <p:nvSpPr>
            <p:cNvPr id="47" name="Google Shape;47;p29"/>
            <p:cNvSpPr txBox="1"/>
            <p:nvPr/>
          </p:nvSpPr>
          <p:spPr>
            <a:xfrm>
              <a:off x="7884975" y="4779200"/>
              <a:ext cx="1168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s-ES" sz="900" b="0" i="0" u="none" strike="noStrike" cap="none">
                  <a:solidFill>
                    <a:srgbClr val="999EA6"/>
                  </a:solidFill>
                  <a:latin typeface="Albert Sans Medium"/>
                  <a:ea typeface="Albert Sans Medium"/>
                  <a:cs typeface="Albert Sans Medium"/>
                  <a:sym typeface="Albert Sans Medium"/>
                </a:rPr>
                <a:t>KinAnalytics.com</a:t>
              </a:r>
              <a:endParaRPr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endParaRPr>
            </a:p>
          </p:txBody>
        </p:sp>
        <p:pic>
          <p:nvPicPr>
            <p:cNvPr id="48" name="Google Shape;48;p2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1750" y="4779201"/>
              <a:ext cx="1236828" cy="323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0"/>
          <p:cNvSpPr txBox="1">
            <a:spLocks noGrp="1"/>
          </p:cNvSpPr>
          <p:nvPr>
            <p:ph type="subTitle" idx="1"/>
          </p:nvPr>
        </p:nvSpPr>
        <p:spPr>
          <a:xfrm>
            <a:off x="1046350" y="2201550"/>
            <a:ext cx="11655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lbert Sans"/>
              <a:buNone/>
              <a:defRPr sz="1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lbert Sans"/>
              <a:buNone/>
              <a:defRPr sz="13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lbert Sans"/>
              <a:buNone/>
              <a:defRPr sz="13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lbert Sans"/>
              <a:buNone/>
              <a:defRPr sz="13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lbert Sans"/>
              <a:buNone/>
              <a:defRPr sz="13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lbert Sans"/>
              <a:buNone/>
              <a:defRPr sz="13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lbert Sans"/>
              <a:buNone/>
              <a:defRPr sz="13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lbert Sans"/>
              <a:buNone/>
              <a:defRPr sz="13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lbert Sans"/>
              <a:buNone/>
              <a:defRPr sz="13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2425" y="737450"/>
            <a:ext cx="6979157" cy="392577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1"/>
          <p:cNvSpPr txBox="1">
            <a:spLocks noGrp="1"/>
          </p:cNvSpPr>
          <p:nvPr>
            <p:ph type="body" idx="1"/>
          </p:nvPr>
        </p:nvSpPr>
        <p:spPr>
          <a:xfrm>
            <a:off x="2006175" y="1571100"/>
            <a:ext cx="1292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bg>
      <p:bgPr>
        <a:solidFill>
          <a:srgbClr val="E5FF0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">
  <p:cSld name="TITLE_1_1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parador azul 1">
  <p:cSld name="ONE_COLUMN_TEXT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parador azul 2">
  <p:cSld name="MAIN_POINT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62" name="Google Shape;6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5" y="0"/>
            <a:ext cx="9154541" cy="51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parador azul 3">
  <p:cSld name="SECTION_TITLE_AND_DESCRIPTION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5" y="0"/>
            <a:ext cx="914404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parador azul 4">
  <p:cSld name="CAPTION_ONLY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67" name="Google Shape;67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2" y="0"/>
            <a:ext cx="914403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nicolas.ayala@kinanalytics.com" TargetMode="External"/><Relationship Id="rId5" Type="http://schemas.openxmlformats.org/officeDocument/2006/relationships/hyperlink" Target="mailto:paula.lara@kinanalytics.com" TargetMode="External"/><Relationship Id="rId4" Type="http://schemas.openxmlformats.org/officeDocument/2006/relationships/hyperlink" Target="mailto:natalia.gomez@kinanalytic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39145f930_0_0"/>
          <p:cNvSpPr/>
          <p:nvPr/>
        </p:nvSpPr>
        <p:spPr>
          <a:xfrm rot="10800000">
            <a:off x="6698619" y="2417250"/>
            <a:ext cx="3977400" cy="34455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1414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939145f930_0_0"/>
          <p:cNvSpPr txBox="1"/>
          <p:nvPr/>
        </p:nvSpPr>
        <p:spPr>
          <a:xfrm>
            <a:off x="6098461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E5FF0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E5FF0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74" name="Google Shape;74;g3939145f930_0_0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E5FF0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E5FF0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75" name="Google Shape;75;g3939145f930_0_0"/>
          <p:cNvPicPr preferRelativeResize="0"/>
          <p:nvPr/>
        </p:nvPicPr>
        <p:blipFill rotWithShape="1">
          <a:blip r:embed="rId3">
            <a:alphaModFix/>
          </a:blip>
          <a:srcRect t="15675" b="15661"/>
          <a:stretch/>
        </p:blipFill>
        <p:spPr>
          <a:xfrm>
            <a:off x="64550" y="4652875"/>
            <a:ext cx="2501176" cy="4494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939145f930_0_0"/>
          <p:cNvSpPr/>
          <p:nvPr/>
        </p:nvSpPr>
        <p:spPr>
          <a:xfrm rot="10800000">
            <a:off x="6715157" y="-1011711"/>
            <a:ext cx="3977400" cy="34455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1414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g3939145f930_0_0"/>
          <p:cNvPicPr preferRelativeResize="0"/>
          <p:nvPr/>
        </p:nvPicPr>
        <p:blipFill rotWithShape="1">
          <a:blip r:embed="rId4">
            <a:alphaModFix/>
          </a:blip>
          <a:srcRect l="18045" t="6184" r="19033" b="7555"/>
          <a:stretch/>
        </p:blipFill>
        <p:spPr>
          <a:xfrm>
            <a:off x="3722799" y="715418"/>
            <a:ext cx="3963600" cy="3446400"/>
          </a:xfrm>
          <a:prstGeom prst="hexagon">
            <a:avLst>
              <a:gd name="adj" fmla="val 28200"/>
              <a:gd name="vf" fmla="val 115470"/>
            </a:avLst>
          </a:prstGeom>
          <a:noFill/>
          <a:ln>
            <a:noFill/>
          </a:ln>
        </p:spPr>
      </p:pic>
      <p:sp>
        <p:nvSpPr>
          <p:cNvPr id="78" name="Google Shape;78;g3939145f930_0_0"/>
          <p:cNvSpPr txBox="1"/>
          <p:nvPr/>
        </p:nvSpPr>
        <p:spPr>
          <a:xfrm>
            <a:off x="95550" y="106100"/>
            <a:ext cx="1216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ES" sz="8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 Analytics </a:t>
            </a:r>
            <a:endParaRPr sz="8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ES" sz="8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©2026</a:t>
            </a:r>
            <a:endParaRPr sz="8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ES" sz="8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CONFIDENCIAL</a:t>
            </a:r>
            <a:endParaRPr sz="8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79" name="Google Shape;79;g3939145f930_0_0"/>
          <p:cNvSpPr txBox="1"/>
          <p:nvPr/>
        </p:nvSpPr>
        <p:spPr>
          <a:xfrm>
            <a:off x="95550" y="1035725"/>
            <a:ext cx="3627300" cy="310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0" i="0" u="none" strike="noStrike" cap="none" dirty="0">
                <a:solidFill>
                  <a:srgbClr val="EF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Resultados </a:t>
            </a:r>
            <a:r>
              <a:rPr lang="es-ES" sz="2400" dirty="0" err="1">
                <a:solidFill>
                  <a:srgbClr val="EF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Ultras</a:t>
            </a:r>
            <a:r>
              <a:rPr lang="es-ES" sz="2400" b="0" i="0" u="none" strike="noStrike" cap="none" dirty="0" err="1">
                <a:solidFill>
                  <a:srgbClr val="EF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egmentación</a:t>
            </a:r>
            <a:r>
              <a:rPr lang="es-ES" sz="2400" b="0" i="0" u="none" strike="noStrike" cap="none" dirty="0">
                <a:solidFill>
                  <a:srgbClr val="EF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sz="2400" b="0" i="0" u="none" strike="noStrike" cap="none" dirty="0">
              <a:solidFill>
                <a:srgbClr val="EFEF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C" sz="2400" dirty="0">
              <a:solidFill>
                <a:srgbClr val="EFEF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C" sz="2400" dirty="0">
              <a:solidFill>
                <a:srgbClr val="EFEF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rgbClr val="EFEF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300" dirty="0" err="1">
                <a:solidFill>
                  <a:srgbClr val="EEFF41"/>
                </a:solidFill>
                <a:latin typeface="Space Grotesk"/>
                <a:ea typeface="Space Grotesk"/>
                <a:cs typeface="Space Grotesk"/>
                <a:sym typeface="Space Grotesk"/>
              </a:rPr>
              <a:t>Nayar</a:t>
            </a:r>
            <a:r>
              <a:rPr lang="es-ES" sz="2300" dirty="0">
                <a:solidFill>
                  <a:srgbClr val="EEFF4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s-ES" sz="2000" b="0" i="0" u="none" strike="noStrike" cap="none" dirty="0">
                <a:solidFill>
                  <a:schemeClr val="accent6"/>
                </a:solidFill>
                <a:latin typeface="Space Grotesk"/>
                <a:ea typeface="Space Grotesk"/>
                <a:cs typeface="Space Grotesk"/>
                <a:sym typeface="Space Grotesk"/>
              </a:rPr>
              <a:t>- </a:t>
            </a:r>
            <a:r>
              <a:rPr lang="es-ES" sz="2000" dirty="0">
                <a:solidFill>
                  <a:schemeClr val="accent6"/>
                </a:solidFill>
                <a:latin typeface="Space Grotesk"/>
                <a:ea typeface="Space Grotesk"/>
                <a:cs typeface="Space Grotesk"/>
                <a:sym typeface="Space Grotesk"/>
              </a:rPr>
              <a:t>México</a:t>
            </a:r>
            <a:endParaRPr sz="2200" b="0" i="0" u="none" strike="noStrike" cap="none" dirty="0">
              <a:solidFill>
                <a:schemeClr val="accent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dirty="0">
                <a:solidFill>
                  <a:schemeClr val="accent6"/>
                </a:solidFill>
                <a:latin typeface="Space Grotesk"/>
                <a:ea typeface="Space Grotesk"/>
                <a:cs typeface="Space Grotesk"/>
                <a:sym typeface="Space Grotesk"/>
              </a:rPr>
              <a:t>Junio </a:t>
            </a:r>
            <a:r>
              <a:rPr lang="es-ES" sz="2200" b="0" i="0" u="none" strike="noStrike" cap="none" dirty="0">
                <a:solidFill>
                  <a:schemeClr val="accent6"/>
                </a:solidFill>
                <a:latin typeface="Space Grotesk"/>
                <a:ea typeface="Space Grotesk"/>
                <a:cs typeface="Space Grotesk"/>
                <a:sym typeface="Space Grotesk"/>
              </a:rPr>
              <a:t>2026</a:t>
            </a:r>
            <a:endParaRPr sz="1700" b="0" i="0" u="none" strike="noStrike" cap="none" dirty="0">
              <a:solidFill>
                <a:schemeClr val="accent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39145f930_0_74"/>
          <p:cNvSpPr txBox="1"/>
          <p:nvPr/>
        </p:nvSpPr>
        <p:spPr>
          <a:xfrm>
            <a:off x="3533575" y="560238"/>
            <a:ext cx="5465400" cy="10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Identificar el </a:t>
            </a:r>
            <a:r>
              <a:rPr lang="es-ES" sz="1100" b="1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potencial de crecimiento en ventas por cliente</a:t>
            </a: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a partir del análisis del comportamiento histórico, agrupando puntos de venta con características similares y proyectando su capacidad de crecimiento</a:t>
            </a:r>
            <a:r>
              <a:rPr lang="es-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, para poder</a:t>
            </a: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-ES" sz="1100" b="1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definir oportunidades y acciones comerciales priorizadas para Total Portafolio, Colas, SingleServe y Sparkling Flavors</a:t>
            </a: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. </a:t>
            </a:r>
            <a:endParaRPr sz="12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6" name="Google Shape;86;g3939145f930_0_74"/>
          <p:cNvSpPr txBox="1"/>
          <p:nvPr/>
        </p:nvSpPr>
        <p:spPr>
          <a:xfrm>
            <a:off x="3533575" y="195013"/>
            <a:ext cx="4585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Objetivo del proyecto</a:t>
            </a:r>
            <a:endParaRPr sz="2000" b="0" i="0" u="none" strike="noStrike" cap="none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87" name="Google Shape;87;g3939145f930_0_74"/>
          <p:cNvSpPr txBox="1"/>
          <p:nvPr/>
        </p:nvSpPr>
        <p:spPr>
          <a:xfrm>
            <a:off x="3541732" y="1989489"/>
            <a:ext cx="50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Impacto esperado</a:t>
            </a:r>
            <a:endParaRPr sz="2000" b="0" i="0" u="none" strike="noStrike" cap="none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88" name="Google Shape;88;g3939145f930_0_74"/>
          <p:cNvSpPr txBox="1"/>
          <p:nvPr/>
        </p:nvSpPr>
        <p:spPr>
          <a:xfrm>
            <a:off x="3404752" y="2482785"/>
            <a:ext cx="5196300" cy="22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lbert Sans"/>
              <a:buChar char="●"/>
            </a:pP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Detectar clientes con </a:t>
            </a:r>
            <a:r>
              <a:rPr lang="es-ES" sz="1100" b="1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alto potencial</a:t>
            </a: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aún no capitalizado.</a:t>
            </a:r>
            <a:endParaRPr sz="11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lbert Sans"/>
              <a:buChar char="●"/>
            </a:pP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Identificar </a:t>
            </a:r>
            <a:r>
              <a:rPr lang="es-ES" sz="1100" b="1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patrones de comportamiento</a:t>
            </a: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y </a:t>
            </a:r>
            <a:r>
              <a:rPr lang="es-ES" sz="1100" b="1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consumo</a:t>
            </a: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por tipo de punto de venta.</a:t>
            </a:r>
            <a:endParaRPr sz="11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lbert Sans"/>
              <a:buChar char="●"/>
            </a:pP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Proyectar el </a:t>
            </a:r>
            <a:r>
              <a:rPr lang="es-ES" sz="1100" b="1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valor adicional</a:t>
            </a: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que podría obtenerse por cliente o grupo.</a:t>
            </a:r>
            <a:endParaRPr sz="11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lbert Sans"/>
              <a:buChar char="●"/>
            </a:pP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Optimizar la</a:t>
            </a:r>
            <a:r>
              <a:rPr lang="es-ES" sz="1100" b="1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cobertura comercial</a:t>
            </a:r>
            <a:r>
              <a:rPr lang="es-ES" sz="1100" b="0" i="0" u="none" strike="noStrike" cap="non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y las estrategias de producto.</a:t>
            </a:r>
            <a:endParaRPr sz="11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9" name="Google Shape;89;g3939145f930_0_74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939145f930_0_74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91" name="Google Shape;91;g3939145f930_0_74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92" name="Google Shape;92;g3939145f930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3939145f930_0_74"/>
          <p:cNvPicPr preferRelativeResize="0"/>
          <p:nvPr/>
        </p:nvPicPr>
        <p:blipFill rotWithShape="1">
          <a:blip r:embed="rId4">
            <a:alphaModFix/>
          </a:blip>
          <a:srcRect b="8933"/>
          <a:stretch/>
        </p:blipFill>
        <p:spPr>
          <a:xfrm>
            <a:off x="0" y="-3750"/>
            <a:ext cx="3305526" cy="4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39145f930_0_224"/>
          <p:cNvSpPr txBox="1"/>
          <p:nvPr/>
        </p:nvSpPr>
        <p:spPr>
          <a:xfrm>
            <a:off x="304800" y="311100"/>
            <a:ext cx="73986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rgbClr val="141417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De Clustering a Segmentación de Potencial</a:t>
            </a:r>
            <a:endParaRPr sz="2100" b="0" i="0" u="none" strike="noStrike" cap="none">
              <a:solidFill>
                <a:srgbClr val="141417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99" name="Google Shape;99;g3939145f930_0_224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939145f930_0_224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01" name="Google Shape;101;g3939145f930_0_224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02" name="Google Shape;102;g3939145f930_0_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939145f930_0_224"/>
          <p:cNvSpPr txBox="1"/>
          <p:nvPr/>
        </p:nvSpPr>
        <p:spPr>
          <a:xfrm>
            <a:off x="162475" y="2731125"/>
            <a:ext cx="28197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 utiliza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patrones de comportamiento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(geo espaciales, socio demográficos, socioeconómicos) al igual que las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ventas de los clientes (últimos 2 años)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para poder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identificar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patrones de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consumo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y asignar un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cluster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comportamiento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 cada cliente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que compartan características de consumo similares.</a:t>
            </a:r>
            <a:endParaRPr sz="1100" b="0" i="0" u="none" strike="noStrike" cap="non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04" name="Google Shape;104;g3939145f930_0_2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28335" y="1015150"/>
            <a:ext cx="790825" cy="6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939145f930_0_224" title="naviga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834" y="1021275"/>
            <a:ext cx="790825" cy="684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g3939145f930_0_224"/>
          <p:cNvGrpSpPr/>
          <p:nvPr/>
        </p:nvGrpSpPr>
        <p:grpSpPr>
          <a:xfrm>
            <a:off x="3434173" y="1369975"/>
            <a:ext cx="241039" cy="139047"/>
            <a:chOff x="2305500" y="1501225"/>
            <a:chExt cx="339300" cy="288300"/>
          </a:xfrm>
        </p:grpSpPr>
        <p:cxnSp>
          <p:nvCxnSpPr>
            <p:cNvPr id="107" name="Google Shape;107;g3939145f930_0_224"/>
            <p:cNvCxnSpPr/>
            <p:nvPr/>
          </p:nvCxnSpPr>
          <p:spPr>
            <a:xfrm>
              <a:off x="2305500" y="1648175"/>
              <a:ext cx="3393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g3939145f930_0_224"/>
            <p:cNvCxnSpPr/>
            <p:nvPr/>
          </p:nvCxnSpPr>
          <p:spPr>
            <a:xfrm>
              <a:off x="2463775" y="1501225"/>
              <a:ext cx="5700" cy="288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9" name="Google Shape;109;g3939145f930_0_224"/>
          <p:cNvSpPr txBox="1"/>
          <p:nvPr/>
        </p:nvSpPr>
        <p:spPr>
          <a:xfrm>
            <a:off x="131750" y="1728025"/>
            <a:ext cx="1569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Patrones de comportamiento (datos alternativos AltScore)</a:t>
            </a:r>
            <a:endParaRPr sz="1200" b="1" i="0" u="none" strike="noStrike" cap="non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10" name="Google Shape;110;g3939145f930_0_224"/>
          <p:cNvSpPr txBox="1"/>
          <p:nvPr/>
        </p:nvSpPr>
        <p:spPr>
          <a:xfrm>
            <a:off x="1851318" y="1728037"/>
            <a:ext cx="1377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Patrones de comportamiento de consumo</a:t>
            </a:r>
            <a:endParaRPr sz="1200" b="1" i="0" u="none" strike="noStrike" cap="non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11" name="Google Shape;111;g3939145f930_0_2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83400" y="961850"/>
            <a:ext cx="893025" cy="81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939145f930_0_224"/>
          <p:cNvSpPr txBox="1"/>
          <p:nvPr/>
        </p:nvSpPr>
        <p:spPr>
          <a:xfrm>
            <a:off x="7098604" y="1804237"/>
            <a:ext cx="137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Segmentación de Potencial</a:t>
            </a:r>
            <a:endParaRPr sz="1200" b="1" i="0" u="none" strike="noStrike" cap="non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113" name="Google Shape;113;g3939145f930_0_224"/>
          <p:cNvCxnSpPr/>
          <p:nvPr/>
        </p:nvCxnSpPr>
        <p:spPr>
          <a:xfrm>
            <a:off x="5897731" y="1422859"/>
            <a:ext cx="571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Google Shape;114;g3939145f930_0_224"/>
          <p:cNvCxnSpPr/>
          <p:nvPr/>
        </p:nvCxnSpPr>
        <p:spPr>
          <a:xfrm>
            <a:off x="5897731" y="1521067"/>
            <a:ext cx="571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3939145f930_0_224"/>
          <p:cNvSpPr txBox="1"/>
          <p:nvPr/>
        </p:nvSpPr>
        <p:spPr>
          <a:xfrm>
            <a:off x="3199800" y="2731125"/>
            <a:ext cx="28959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El algoritmo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agrupa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puntos de venta con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comportamientos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características de visita, y consumo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similar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para entender mejor a sus consumidores y poder crear una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estimación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 cuanto puede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crecer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un cliente a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comparación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 otro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cliente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con características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similares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100" b="0" i="0" u="none" strike="noStrike" cap="non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16" name="Google Shape;116;g3939145f930_0_224"/>
          <p:cNvSpPr txBox="1"/>
          <p:nvPr/>
        </p:nvSpPr>
        <p:spPr>
          <a:xfrm>
            <a:off x="6248100" y="2731125"/>
            <a:ext cx="28959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Al utilizar esta información con nuestro algoritmo personalizado, generamos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segmentaciones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ventas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(Very High, High, Moderate y Low) al igual que el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crecimiento potencial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que cada cliente puede tener, para maximizar el </a:t>
            </a:r>
            <a:r>
              <a:rPr lang="es-ES" sz="11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beneficio </a:t>
            </a:r>
            <a:r>
              <a:rPr lang="es-ES" sz="11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de cada punto de venta.</a:t>
            </a:r>
            <a:endParaRPr sz="1100" b="0" i="0" u="none" strike="noStrike" cap="non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17" name="Google Shape;117;g3939145f930_0_224" descr="icon of algorithm and AI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48981" y="703064"/>
            <a:ext cx="1376998" cy="137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939145f930_0_224"/>
          <p:cNvSpPr txBox="1"/>
          <p:nvPr/>
        </p:nvSpPr>
        <p:spPr>
          <a:xfrm>
            <a:off x="3848981" y="1804237"/>
            <a:ext cx="1377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Algoritmo de Customer Potential</a:t>
            </a:r>
            <a:endParaRPr sz="1200" b="1" i="0" u="none" strike="noStrike" cap="none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19" name="Google Shape;119;g3939145f930_0_224"/>
          <p:cNvSpPr/>
          <p:nvPr/>
        </p:nvSpPr>
        <p:spPr>
          <a:xfrm>
            <a:off x="6825776" y="44575"/>
            <a:ext cx="2318100" cy="658500"/>
          </a:xfrm>
          <a:prstGeom prst="rect">
            <a:avLst/>
          </a:prstGeom>
          <a:solidFill>
            <a:srgbClr val="E5FF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Ultrasegmentación: proceso</a:t>
            </a:r>
            <a:endParaRPr sz="14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6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939145f930_0_312"/>
          <p:cNvPicPr preferRelativeResize="0"/>
          <p:nvPr/>
        </p:nvPicPr>
        <p:blipFill rotWithShape="1">
          <a:blip r:embed="rId3">
            <a:alphaModFix/>
          </a:blip>
          <a:srcRect t="3874" b="3872"/>
          <a:stretch/>
        </p:blipFill>
        <p:spPr>
          <a:xfrm>
            <a:off x="1189849" y="994901"/>
            <a:ext cx="842702" cy="77385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939145f930_0_312"/>
          <p:cNvSpPr txBox="1"/>
          <p:nvPr/>
        </p:nvSpPr>
        <p:spPr>
          <a:xfrm>
            <a:off x="132800" y="1668400"/>
            <a:ext cx="2956800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000" b="0" i="0" u="none" strike="noStrike" cap="none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Datos de clientes - </a:t>
            </a:r>
            <a:r>
              <a:rPr lang="es-ES" sz="1000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Nayar México</a:t>
            </a:r>
            <a:endParaRPr sz="1000" b="0" i="0" u="none" strike="noStrike" cap="none" dirty="0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000" b="0" i="0" u="none" strike="noStrike" cap="none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(Embotelladora – Jun 2026)</a:t>
            </a:r>
            <a:endParaRPr sz="1000" b="0" i="0" u="none" strike="noStrike" cap="none" dirty="0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chemeClr val="lt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126" name="Google Shape;126;g3939145f930_0_312"/>
          <p:cNvPicPr preferRelativeResize="0"/>
          <p:nvPr/>
        </p:nvPicPr>
        <p:blipFill rotWithShape="1">
          <a:blip r:embed="rId3">
            <a:alphaModFix/>
          </a:blip>
          <a:srcRect t="7089" b="7080"/>
          <a:stretch/>
        </p:blipFill>
        <p:spPr>
          <a:xfrm>
            <a:off x="7273274" y="1886862"/>
            <a:ext cx="842702" cy="72000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939145f930_0_312"/>
          <p:cNvSpPr txBox="1"/>
          <p:nvPr/>
        </p:nvSpPr>
        <p:spPr>
          <a:xfrm>
            <a:off x="6219825" y="2641300"/>
            <a:ext cx="2727600" cy="16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Base de datos final</a:t>
            </a: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lbert Sans Light"/>
              <a:buChar char="●"/>
            </a:pPr>
            <a:r>
              <a:rPr lang="es-ES" sz="900" b="0" i="0" u="none" strike="noStrike" cap="none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Segmentación actual (ventas)</a:t>
            </a:r>
            <a:endParaRPr sz="900" b="0" i="0" u="none" strike="noStrike" cap="none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lbert Sans Light"/>
              <a:buChar char="●"/>
            </a:pPr>
            <a:r>
              <a:rPr lang="es-ES" sz="900" b="0" i="0" u="none" strike="noStrike" cap="none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Clasificación por potencial (cuantitativo y cualitativo)</a:t>
            </a:r>
            <a:endParaRPr sz="900" b="0" i="0" u="none" strike="noStrike" cap="none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lbert Sans Light"/>
              <a:buChar char="●"/>
            </a:pPr>
            <a:r>
              <a:rPr lang="es-ES" sz="900" b="0" i="0" u="none" strike="noStrike" cap="none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Estimación de crecimiento (% y unidades)</a:t>
            </a:r>
            <a:endParaRPr sz="900" b="0" i="0" u="none" strike="noStrike" cap="none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  <a:p>
            <a:pPr marL="45720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lbert Sans Light"/>
              <a:buChar char="●"/>
            </a:pPr>
            <a:r>
              <a:rPr lang="es-ES" sz="900" b="0" i="0" u="none" strike="noStrike" cap="none">
                <a:solidFill>
                  <a:schemeClr val="lt1"/>
                </a:solidFill>
                <a:latin typeface="Albert Sans Light"/>
                <a:ea typeface="Albert Sans Light"/>
                <a:cs typeface="Albert Sans Light"/>
                <a:sym typeface="Albert Sans Light"/>
              </a:rPr>
              <a:t>Columnas por categoría/subcategoría*</a:t>
            </a:r>
            <a:endParaRPr sz="900" b="0" i="0" u="none" strike="noStrike" cap="none">
              <a:solidFill>
                <a:schemeClr val="lt1"/>
              </a:solidFill>
              <a:latin typeface="Albert Sans Light"/>
              <a:ea typeface="Albert Sans Light"/>
              <a:cs typeface="Albert Sans Light"/>
              <a:sym typeface="Albert Sans Light"/>
            </a:endParaRPr>
          </a:p>
        </p:txBody>
      </p:sp>
      <p:sp>
        <p:nvSpPr>
          <p:cNvPr id="128" name="Google Shape;128;g3939145f930_0_312"/>
          <p:cNvSpPr txBox="1"/>
          <p:nvPr/>
        </p:nvSpPr>
        <p:spPr>
          <a:xfrm>
            <a:off x="1432250" y="637610"/>
            <a:ext cx="35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1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29" name="Google Shape;129;g3939145f930_0_312"/>
          <p:cNvSpPr txBox="1"/>
          <p:nvPr/>
        </p:nvSpPr>
        <p:spPr>
          <a:xfrm>
            <a:off x="7515675" y="1499857"/>
            <a:ext cx="35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5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30" name="Google Shape;130;g3939145f930_0_312"/>
          <p:cNvSpPr txBox="1"/>
          <p:nvPr/>
        </p:nvSpPr>
        <p:spPr>
          <a:xfrm>
            <a:off x="62277" y="127525"/>
            <a:ext cx="6763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accent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Resumen del proceso: Segmentación de potencial</a:t>
            </a:r>
            <a:endParaRPr sz="2000" b="0" i="0" u="none" strike="noStrike" cap="none">
              <a:solidFill>
                <a:schemeClr val="accent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31" name="Google Shape;131;g3939145f930_0_312"/>
          <p:cNvSpPr txBox="1"/>
          <p:nvPr/>
        </p:nvSpPr>
        <p:spPr>
          <a:xfrm>
            <a:off x="3663799" y="2084800"/>
            <a:ext cx="2403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Algoritmo de Customer Potential</a:t>
            </a: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900" b="0" i="0" u="none" strike="noStrike" cap="none">
                <a:solidFill>
                  <a:schemeClr val="lt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(segmentación actual + estimación de crecimiento)</a:t>
            </a:r>
            <a:endParaRPr sz="900" b="0" i="0" u="none" strike="noStrike" cap="none">
              <a:solidFill>
                <a:schemeClr val="lt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132" name="Google Shape;132;g3939145f930_0_3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9129" y="1462937"/>
            <a:ext cx="858806" cy="65316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939145f930_0_312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cxnSp>
        <p:nvCxnSpPr>
          <p:cNvPr id="134" name="Google Shape;134;g3939145f930_0_312"/>
          <p:cNvCxnSpPr/>
          <p:nvPr/>
        </p:nvCxnSpPr>
        <p:spPr>
          <a:xfrm>
            <a:off x="6447950" y="2344700"/>
            <a:ext cx="558600" cy="0"/>
          </a:xfrm>
          <a:prstGeom prst="straightConnector1">
            <a:avLst/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" name="Google Shape;135;g3939145f930_0_312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36" name="Google Shape;136;g3939145f930_0_312"/>
          <p:cNvPicPr preferRelativeResize="0"/>
          <p:nvPr/>
        </p:nvPicPr>
        <p:blipFill rotWithShape="1">
          <a:blip r:embed="rId5">
            <a:alphaModFix/>
          </a:blip>
          <a:srcRect t="88" b="88"/>
          <a:stretch/>
        </p:blipFill>
        <p:spPr>
          <a:xfrm>
            <a:off x="131750" y="4779201"/>
            <a:ext cx="1236828" cy="323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g3939145f930_0_312"/>
          <p:cNvGrpSpPr/>
          <p:nvPr/>
        </p:nvGrpSpPr>
        <p:grpSpPr>
          <a:xfrm>
            <a:off x="3474476" y="2656114"/>
            <a:ext cx="1894283" cy="1273287"/>
            <a:chOff x="2692171" y="3269559"/>
            <a:chExt cx="1995452" cy="1341291"/>
          </a:xfrm>
        </p:grpSpPr>
        <p:pic>
          <p:nvPicPr>
            <p:cNvPr id="138" name="Google Shape;138;g3939145f930_0_312"/>
            <p:cNvPicPr preferRelativeResize="0"/>
            <p:nvPr/>
          </p:nvPicPr>
          <p:blipFill rotWithShape="1">
            <a:blip r:embed="rId3">
              <a:alphaModFix/>
            </a:blip>
            <a:srcRect t="7102" b="7103"/>
            <a:stretch/>
          </p:blipFill>
          <p:spPr>
            <a:xfrm>
              <a:off x="3691498" y="3838127"/>
              <a:ext cx="904744" cy="7727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g3939145f930_0_312"/>
            <p:cNvSpPr txBox="1"/>
            <p:nvPr/>
          </p:nvSpPr>
          <p:spPr>
            <a:xfrm>
              <a:off x="2692171" y="4053226"/>
              <a:ext cx="10797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s-ES" sz="1000" b="1" i="0" u="none" strike="noStrike" cap="none">
                  <a:solidFill>
                    <a:schemeClr val="accent6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Datos alternativos</a:t>
              </a:r>
              <a:endParaRPr sz="1000" b="1" i="0" u="none" strike="noStrike" cap="none">
                <a:solidFill>
                  <a:schemeClr val="accent6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0" name="Google Shape;140;g3939145f930_0_312"/>
            <p:cNvSpPr txBox="1"/>
            <p:nvPr/>
          </p:nvSpPr>
          <p:spPr>
            <a:xfrm>
              <a:off x="3043621" y="3734972"/>
              <a:ext cx="3768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ES" sz="1400" b="0" i="0" u="none" strike="noStrike" cap="none">
                  <a:solidFill>
                    <a:srgbClr val="D8D8D5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4</a:t>
              </a:r>
              <a:endParaRPr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1" name="Google Shape;141;g3939145f930_0_312"/>
            <p:cNvSpPr txBox="1"/>
            <p:nvPr/>
          </p:nvSpPr>
          <p:spPr>
            <a:xfrm rot="-5400000">
              <a:off x="3928623" y="2861259"/>
              <a:ext cx="350700" cy="116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endParaRPr sz="6000" b="0" i="0" u="none" strike="noStrike" cap="none">
                <a:solidFill>
                  <a:srgbClr val="999EA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cxnSp>
          <p:nvCxnSpPr>
            <p:cNvPr id="142" name="Google Shape;142;g3939145f930_0_312"/>
            <p:cNvCxnSpPr>
              <a:stCxn id="138" idx="0"/>
            </p:cNvCxnSpPr>
            <p:nvPr/>
          </p:nvCxnSpPr>
          <p:spPr>
            <a:xfrm rot="10800000">
              <a:off x="4143270" y="3586127"/>
              <a:ext cx="600" cy="252000"/>
            </a:xfrm>
            <a:prstGeom prst="straightConnector1">
              <a:avLst/>
            </a:prstGeom>
            <a:noFill/>
            <a:ln w="9525" cap="flat" cmpd="sng">
              <a:solidFill>
                <a:srgbClr val="D4D5D6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pic>
        <p:nvPicPr>
          <p:cNvPr id="143" name="Google Shape;143;g3939145f930_0_312"/>
          <p:cNvPicPr preferRelativeResize="0"/>
          <p:nvPr/>
        </p:nvPicPr>
        <p:blipFill rotWithShape="1">
          <a:blip r:embed="rId3">
            <a:alphaModFix/>
          </a:blip>
          <a:srcRect t="3874" b="3872"/>
          <a:stretch/>
        </p:blipFill>
        <p:spPr>
          <a:xfrm>
            <a:off x="1173974" y="2823701"/>
            <a:ext cx="842702" cy="773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939145f930_0_312"/>
          <p:cNvSpPr txBox="1"/>
          <p:nvPr/>
        </p:nvSpPr>
        <p:spPr>
          <a:xfrm>
            <a:off x="-126375" y="3501500"/>
            <a:ext cx="3443400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000" b="0" i="0" u="none" strike="noStrike" cap="none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Datos de Ventas - </a:t>
            </a:r>
            <a:r>
              <a:rPr lang="es-ES" sz="1000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Nayar México</a:t>
            </a:r>
            <a:endParaRPr sz="1000" b="0" i="0" u="none" strike="noStrike" cap="none" dirty="0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000" b="0" i="0" u="none" strike="noStrike" cap="none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(</a:t>
            </a:r>
            <a:r>
              <a:rPr lang="es-ES" sz="1000" b="0" i="0" u="none" strike="noStrike" cap="none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Sistema NSR – Jun 2026</a:t>
            </a:r>
            <a:r>
              <a:rPr lang="es-ES" sz="1000" b="0" i="0" u="none" strike="noStrike" cap="none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)</a:t>
            </a:r>
            <a:endParaRPr sz="1000" b="0" i="0" u="none" strike="noStrike" cap="none" dirty="0">
              <a:solidFill>
                <a:schemeClr val="lt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000" b="0" i="0" u="none" strike="noStrike" cap="none" dirty="0">
                <a:solidFill>
                  <a:schemeClr val="lt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(</a:t>
            </a:r>
            <a:r>
              <a:rPr lang="es-ES" sz="1000" b="0" i="0" u="none" strike="noStrike" cap="none" dirty="0" err="1">
                <a:solidFill>
                  <a:schemeClr val="lt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Avg</a:t>
            </a:r>
            <a:r>
              <a:rPr lang="es-ES" sz="1000" b="0" i="0" u="none" strike="noStrike" cap="none" dirty="0">
                <a:solidFill>
                  <a:schemeClr val="lt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 </a:t>
            </a:r>
            <a:r>
              <a:rPr lang="es-ES" sz="1000" b="0" i="0" u="none" strike="noStrike" cap="none" dirty="0" err="1">
                <a:solidFill>
                  <a:schemeClr val="lt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Monthly</a:t>
            </a:r>
            <a:r>
              <a:rPr lang="es-ES" sz="1000" b="0" i="0" u="none" strike="noStrike" cap="none" dirty="0">
                <a:solidFill>
                  <a:schemeClr val="lt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 </a:t>
            </a:r>
            <a:r>
              <a:rPr lang="es-ES" sz="1000" b="0" i="0" u="none" strike="noStrike" cap="none" dirty="0" err="1">
                <a:solidFill>
                  <a:schemeClr val="lt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Unit</a:t>
            </a:r>
            <a:r>
              <a:rPr lang="es-ES" sz="1000" b="0" i="0" u="none" strike="noStrike" cap="none" dirty="0">
                <a:solidFill>
                  <a:schemeClr val="lt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 Cases AC)</a:t>
            </a:r>
            <a:endParaRPr sz="1000" b="0" i="0" u="none" strike="noStrike" cap="none" dirty="0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145" name="Google Shape;145;g3939145f930_0_312"/>
          <p:cNvSpPr txBox="1"/>
          <p:nvPr/>
        </p:nvSpPr>
        <p:spPr>
          <a:xfrm>
            <a:off x="1419550" y="2542610"/>
            <a:ext cx="35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2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6" name="Google Shape;146;g3939145f930_0_312"/>
          <p:cNvSpPr txBox="1"/>
          <p:nvPr/>
        </p:nvSpPr>
        <p:spPr>
          <a:xfrm>
            <a:off x="4659582" y="1088685"/>
            <a:ext cx="35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3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147" name="Google Shape;147;g3939145f930_0_3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72410" y="3643270"/>
            <a:ext cx="1546137" cy="86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g3939145f930_0_312"/>
          <p:cNvCxnSpPr/>
          <p:nvPr/>
        </p:nvCxnSpPr>
        <p:spPr>
          <a:xfrm>
            <a:off x="2309125" y="1347250"/>
            <a:ext cx="1375200" cy="795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9" name="Google Shape;149;g3939145f930_0_312"/>
          <p:cNvCxnSpPr/>
          <p:nvPr/>
        </p:nvCxnSpPr>
        <p:spPr>
          <a:xfrm rot="10800000" flipH="1">
            <a:off x="2296099" y="2349700"/>
            <a:ext cx="1395900" cy="1073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39145f930_0_405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939145f930_0_405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56" name="Google Shape;156;g3939145f930_0_405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57" name="Google Shape;157;g3939145f930_0_4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939145f930_0_405"/>
          <p:cNvSpPr txBox="1"/>
          <p:nvPr/>
        </p:nvSpPr>
        <p:spPr>
          <a:xfrm>
            <a:off x="274750" y="1379550"/>
            <a:ext cx="3407700" cy="23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Al comparar distintos puntos de venta con </a:t>
            </a:r>
            <a:r>
              <a:rPr lang="es-ES" sz="1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características </a:t>
            </a:r>
            <a:r>
              <a:rPr lang="es-ES" sz="12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similares, podemos estimar su potencial de </a:t>
            </a:r>
            <a:r>
              <a:rPr lang="es-ES" sz="1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crecimiento.</a:t>
            </a:r>
            <a:endParaRPr sz="1200" b="0" i="0" u="none" strike="noStrike" cap="non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Nuestro modelo de ultra segmentación se apoya en datos valiosos proporcionados por </a:t>
            </a:r>
            <a:r>
              <a:rPr lang="es-ES" sz="1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AltScore</a:t>
            </a:r>
            <a:r>
              <a:rPr lang="es-ES" sz="12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, lo que nos permite realizar una </a:t>
            </a:r>
            <a:r>
              <a:rPr lang="es-ES" sz="1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comparación </a:t>
            </a:r>
            <a:r>
              <a:rPr lang="es-ES" sz="12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detallada y fundamentada de los clientes, ayudando a identificar oportunidades de </a:t>
            </a:r>
            <a:r>
              <a:rPr lang="es-ES" sz="12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crecimiento </a:t>
            </a:r>
            <a:r>
              <a:rPr lang="es-ES" sz="12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potencial.</a:t>
            </a:r>
            <a:endParaRPr sz="1200" b="0" i="0" u="none" strike="noStrike" cap="non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g3939145f930_0_405"/>
          <p:cNvSpPr txBox="1"/>
          <p:nvPr/>
        </p:nvSpPr>
        <p:spPr>
          <a:xfrm>
            <a:off x="94627" y="127525"/>
            <a:ext cx="7472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0" i="0" u="none" strike="noStrike" cap="none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Resumen del proceso: Segmentación de potencial</a:t>
            </a:r>
            <a:endParaRPr sz="2000" b="0" i="0" u="none" strike="noStrike" cap="none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60" name="Google Shape;160;g3939145f930_0_405" title="segmentation.drawio (2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5620" y="855863"/>
            <a:ext cx="3877104" cy="366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39145f930_0_569"/>
          <p:cNvSpPr txBox="1">
            <a:spLocks noGrp="1"/>
          </p:cNvSpPr>
          <p:nvPr>
            <p:ph type="title"/>
          </p:nvPr>
        </p:nvSpPr>
        <p:spPr>
          <a:xfrm>
            <a:off x="6046850" y="2384600"/>
            <a:ext cx="22062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ES" sz="2300">
                <a:solidFill>
                  <a:srgbClr val="E5FF0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Resultados de potencial por categoría</a:t>
            </a:r>
            <a:endParaRPr sz="2300">
              <a:solidFill>
                <a:srgbClr val="E5FF0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g3939145f930_0_569"/>
          <p:cNvSpPr txBox="1"/>
          <p:nvPr/>
        </p:nvSpPr>
        <p:spPr>
          <a:xfrm>
            <a:off x="4257700" y="1794075"/>
            <a:ext cx="12561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lang="es-ES" sz="100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 sz="10000" b="1" i="0" u="none" strike="noStrike" cap="non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2017eaa25_0_155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73" name="Google Shape;173;g392017eaa25_0_155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74" name="Google Shape;174;g392017eaa25_0_1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g392017eaa25_0_155"/>
          <p:cNvCxnSpPr/>
          <p:nvPr/>
        </p:nvCxnSpPr>
        <p:spPr>
          <a:xfrm rot="10800000" flipH="1">
            <a:off x="124950" y="956278"/>
            <a:ext cx="8894100" cy="7500"/>
          </a:xfrm>
          <a:prstGeom prst="straightConnector1">
            <a:avLst/>
          </a:prstGeom>
          <a:noFill/>
          <a:ln w="19050" cap="flat" cmpd="sng">
            <a:solidFill>
              <a:srgbClr val="E5FF0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g392017eaa25_0_155"/>
          <p:cNvSpPr txBox="1"/>
          <p:nvPr/>
        </p:nvSpPr>
        <p:spPr>
          <a:xfrm>
            <a:off x="85200" y="169055"/>
            <a:ext cx="8973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b="1" i="0" u="none" strike="noStrike" cap="none" dirty="0">
                <a:solidFill>
                  <a:srgbClr val="11111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Potencial estimado en Total portafolio:</a:t>
            </a:r>
            <a:r>
              <a:rPr lang="es-ES" b="1" i="0" u="none" strike="noStrike" cap="none" dirty="0">
                <a:solidFill>
                  <a:srgbClr val="111111"/>
                </a:solidFill>
                <a:highlight>
                  <a:schemeClr val="lt1"/>
                </a:highlight>
                <a:latin typeface="Space Grotesk"/>
                <a:ea typeface="Space Grotesk"/>
                <a:cs typeface="Space Grotesk"/>
                <a:sym typeface="Space Grotesk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</a:ext>
                </a:extLst>
              </a:rPr>
              <a:t> </a:t>
            </a:r>
            <a:r>
              <a:rPr lang="es-ES" b="0" i="0" u="none" strike="noStrike" cap="none" dirty="0">
                <a:solidFill>
                  <a:srgbClr val="111111"/>
                </a:solidFill>
                <a:latin typeface="Albert Sans" panose="020B0604020202020204" charset="0"/>
                <a:ea typeface="Space Grotesk Medium"/>
                <a:cs typeface="Space Grotesk Medium"/>
                <a:sym typeface="Space Grotesk Medium"/>
              </a:rPr>
              <a:t>El 20% de los clientes (~</a:t>
            </a:r>
            <a:r>
              <a:rPr lang="es-ES" dirty="0">
                <a:solidFill>
                  <a:srgbClr val="111111"/>
                </a:solidFill>
                <a:latin typeface="Albert Sans" panose="020B0604020202020204" charset="0"/>
                <a:ea typeface="Space Grotesk Medium"/>
                <a:cs typeface="Space Grotesk Medium"/>
                <a:sym typeface="Space Grotesk Medium"/>
              </a:rPr>
              <a:t>4</a:t>
            </a:r>
            <a:r>
              <a:rPr lang="es-ES" b="0" i="0" u="none" strike="noStrike" cap="none" dirty="0">
                <a:solidFill>
                  <a:srgbClr val="111111"/>
                </a:solidFill>
                <a:latin typeface="Albert Sans" panose="020B0604020202020204" charset="0"/>
                <a:ea typeface="Space Grotesk Medium"/>
                <a:cs typeface="Space Grotesk Medium"/>
                <a:sym typeface="Space Grotesk Medium"/>
              </a:rPr>
              <a:t>k) tienen el mayor aporte al crecimiento total (</a:t>
            </a:r>
            <a:r>
              <a:rPr lang="es-ES" dirty="0">
                <a:solidFill>
                  <a:srgbClr val="111111"/>
                </a:solidFill>
                <a:latin typeface="Albert Sans" panose="020B0604020202020204" charset="0"/>
                <a:ea typeface="Space Grotesk Medium"/>
                <a:cs typeface="Space Grotesk Medium"/>
                <a:sym typeface="Space Grotesk Medium"/>
              </a:rPr>
              <a:t>79</a:t>
            </a:r>
            <a:r>
              <a:rPr lang="es-ES" b="0" i="0" u="none" strike="noStrike" cap="none" dirty="0">
                <a:solidFill>
                  <a:srgbClr val="111111"/>
                </a:solidFill>
                <a:latin typeface="Albert Sans" panose="020B0604020202020204" charset="0"/>
                <a:ea typeface="Space Grotesk Medium"/>
                <a:cs typeface="Space Grotesk Medium"/>
                <a:sym typeface="Space Grotesk Medium"/>
              </a:rPr>
              <a:t>%). </a:t>
            </a:r>
            <a:r>
              <a:rPr lang="es-ES" b="0" i="0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El aporte al crecimiento de volumen (UC) de los clientes </a:t>
            </a:r>
            <a:r>
              <a:rPr lang="es-ES" b="1" i="1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Very High</a:t>
            </a:r>
            <a:r>
              <a:rPr lang="es-ES" b="0" i="0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, basado en el promedio mensual, es del</a:t>
            </a:r>
            <a:r>
              <a:rPr lang="es-ES" b="1" i="0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 </a:t>
            </a:r>
            <a:r>
              <a:rPr lang="es-ES" b="1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45.3</a:t>
            </a:r>
            <a:r>
              <a:rPr lang="es-ES" b="1" i="0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%</a:t>
            </a:r>
            <a:r>
              <a:rPr lang="es-ES" b="0" i="0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 (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95.4</a:t>
            </a:r>
            <a:r>
              <a:rPr lang="es-ES" b="0" i="0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k) del total del potencial de crecimiento del portafolio (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210.6k</a:t>
            </a:r>
            <a:r>
              <a:rPr lang="es-ES" b="0" i="0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).</a:t>
            </a:r>
            <a:endParaRPr b="0" i="0" u="none" strike="noStrike" cap="none" dirty="0">
              <a:solidFill>
                <a:srgbClr val="111111"/>
              </a:solidFill>
              <a:latin typeface="Albert Sans" panose="020B0604020202020204" charset="0"/>
              <a:ea typeface="Space Grotesk Medium"/>
              <a:cs typeface="Space Grotesk Medium"/>
              <a:sym typeface="Space Grotesk Medium"/>
            </a:endParaRPr>
          </a:p>
        </p:txBody>
      </p:sp>
      <p:graphicFrame>
        <p:nvGraphicFramePr>
          <p:cNvPr id="177" name="Google Shape;177;g392017eaa25_0_155"/>
          <p:cNvGraphicFramePr/>
          <p:nvPr/>
        </p:nvGraphicFramePr>
        <p:xfrm>
          <a:off x="266515" y="1534812"/>
          <a:ext cx="4520850" cy="3118503"/>
        </p:xfrm>
        <a:graphic>
          <a:graphicData uri="http://schemas.openxmlformats.org/drawingml/2006/table">
            <a:tbl>
              <a:tblPr>
                <a:noFill/>
                <a:tableStyleId>{F1FCE52B-76FC-4316-819C-EA5C322EE713}</a:tableStyleId>
              </a:tblPr>
              <a:tblGrid>
                <a:gridCol w="11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4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2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Potencial</a:t>
                      </a:r>
                      <a:endParaRPr sz="14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Total Portafolio</a:t>
                      </a:r>
                      <a:endParaRPr sz="14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lt1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POS[n]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300" u="none" strike="noStrike" cap="none">
                          <a:solidFill>
                            <a:schemeClr val="lt1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Promedio de ventas actuales [UC</a:t>
                      </a:r>
                      <a:r>
                        <a:rPr lang="es-ES" sz="1300">
                          <a:solidFill>
                            <a:schemeClr val="lt1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]</a:t>
                      </a:r>
                      <a:endParaRPr sz="14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Aporte al Crecimiento</a:t>
                      </a:r>
                      <a:endParaRPr sz="14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Very High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926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334.9k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45.3</a:t>
                      </a:r>
                      <a:r>
                        <a:rPr lang="es-ES" sz="1400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%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High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2,775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0.6M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33.7</a:t>
                      </a:r>
                      <a:r>
                        <a:rPr lang="es-ES" sz="1400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%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Moderate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5,551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361.0k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16.95</a:t>
                      </a:r>
                      <a:r>
                        <a:rPr lang="es-ES" sz="1400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%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Low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9,253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1.1M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4.04</a:t>
                      </a:r>
                      <a:r>
                        <a:rPr lang="es-ES" sz="1400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%</a:t>
                      </a:r>
                      <a:endParaRPr sz="14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Total</a:t>
                      </a:r>
                      <a:endParaRPr sz="14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18,505</a:t>
                      </a:r>
                      <a:endParaRPr sz="14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b="1" dirty="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2.4</a:t>
                      </a:r>
                      <a:r>
                        <a:rPr lang="es-ES" sz="1400" b="1" u="none" strike="noStrike" cap="none" dirty="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M</a:t>
                      </a:r>
                      <a:endParaRPr sz="1400" b="1" u="none" strike="noStrike" cap="none" dirty="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b="1" u="none" strike="noStrike" cap="none" dirty="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100%</a:t>
                      </a:r>
                      <a:endParaRPr sz="1400" b="1" u="none" strike="noStrike" cap="none" dirty="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8" name="Google Shape;178;g392017eaa25_0_155"/>
          <p:cNvSpPr txBox="1"/>
          <p:nvPr/>
        </p:nvSpPr>
        <p:spPr>
          <a:xfrm>
            <a:off x="5560975" y="4456100"/>
            <a:ext cx="293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ES"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*valor de aporte al crecimiento basado en promedio mensual</a:t>
            </a:r>
            <a:endParaRPr sz="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92017eaa25_0_155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6166" y="1594300"/>
            <a:ext cx="3855435" cy="261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2A8FD099-99DB-653F-53FF-21B04751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324d589d8_0_0">
            <a:extLst>
              <a:ext uri="{FF2B5EF4-FFF2-40B4-BE49-F238E27FC236}">
                <a16:creationId xmlns:a16="http://schemas.microsoft.com/office/drawing/2014/main" id="{5826374A-E4EF-32AB-8B3D-B03D4D5DE014}"/>
              </a:ext>
            </a:extLst>
          </p:cNvPr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86" name="Google Shape;186;g39324d589d8_0_0">
            <a:extLst>
              <a:ext uri="{FF2B5EF4-FFF2-40B4-BE49-F238E27FC236}">
                <a16:creationId xmlns:a16="http://schemas.microsoft.com/office/drawing/2014/main" id="{55850B5C-0E5C-7016-1432-B3F2AD9E9A2B}"/>
              </a:ext>
            </a:extLst>
          </p:cNvPr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87" name="Google Shape;187;g39324d589d8_0_0">
            <a:extLst>
              <a:ext uri="{FF2B5EF4-FFF2-40B4-BE49-F238E27FC236}">
                <a16:creationId xmlns:a16="http://schemas.microsoft.com/office/drawing/2014/main" id="{4C679E24-D634-5188-A46F-7A0E7EF046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" name="Google Shape;188;g39324d589d8_0_0">
            <a:extLst>
              <a:ext uri="{FF2B5EF4-FFF2-40B4-BE49-F238E27FC236}">
                <a16:creationId xmlns:a16="http://schemas.microsoft.com/office/drawing/2014/main" id="{9A7E19E6-36AC-0D36-EB90-C5AF76C291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7615924"/>
              </p:ext>
            </p:extLst>
          </p:nvPr>
        </p:nvGraphicFramePr>
        <p:xfrm>
          <a:off x="266525" y="1549220"/>
          <a:ext cx="8610950" cy="2396973"/>
        </p:xfrm>
        <a:graphic>
          <a:graphicData uri="http://schemas.openxmlformats.org/drawingml/2006/table">
            <a:tbl>
              <a:tblPr>
                <a:noFill/>
                <a:tableStyleId>{F1FCE52B-76FC-4316-819C-EA5C322EE713}</a:tableStyleId>
              </a:tblPr>
              <a:tblGrid>
                <a:gridCol w="83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6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9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9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4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025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Potencial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 dirty="0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Coca Cola</a:t>
                      </a:r>
                      <a:endParaRPr sz="1200" u="none" strike="noStrike" cap="none" dirty="0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Sparkling Flavors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Single Serve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1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POS [n]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Promedio de ventas actuales [UC]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ES" sz="11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Aporte al crecimiento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2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POS [n]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>
                          <a:solidFill>
                            <a:schemeClr val="lt1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Promedio de ventas actuales [UC]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ES" sz="12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Aporte al crecimiento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2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POS [n]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strike="noStrike" cap="none">
                          <a:solidFill>
                            <a:schemeClr val="lt1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Promedio de ventas actuales [UC]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ES" sz="1200" u="none" strike="noStrike" cap="none">
                          <a:solidFill>
                            <a:srgbClr val="FFFFFF"/>
                          </a:solidFill>
                          <a:latin typeface="Albert Sans SemiBold"/>
                          <a:ea typeface="Albert Sans SemiBold"/>
                          <a:cs typeface="Albert Sans SemiBold"/>
                          <a:sym typeface="Albert Sans SemiBold"/>
                        </a:rPr>
                        <a:t>Aporte al crecimiento</a:t>
                      </a:r>
                      <a:endParaRPr sz="1200" u="none" strike="noStrike" cap="none">
                        <a:solidFill>
                          <a:srgbClr val="FFFFFF"/>
                        </a:solidFill>
                        <a:latin typeface="Albert Sans SemiBold"/>
                        <a:ea typeface="Albert Sans SemiBold"/>
                        <a:cs typeface="Albert Sans SemiBold"/>
                        <a:sym typeface="Albert Sans SemiBold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ES" sz="1200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Very High</a:t>
                      </a:r>
                      <a:endParaRPr sz="12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901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198.3 k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44.2%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911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23.3 k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40.73%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922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110.4 k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42.71%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ES" sz="1200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High</a:t>
                      </a:r>
                      <a:endParaRPr sz="1200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2,703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352.3 k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34.52%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2,731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34.5 k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33.21%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2,765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180.7 k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33.42%</a:t>
                      </a:r>
                      <a:endParaRPr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Total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3,604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0.6 M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78.73</a:t>
                      </a:r>
                      <a:r>
                        <a:rPr lang="es-ES" sz="12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%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3,642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57.7 k</a:t>
                      </a:r>
                      <a:r>
                        <a:rPr lang="es-ES" sz="12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 </a:t>
                      </a:r>
                      <a:r>
                        <a:rPr lang="es-ES" sz="1200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k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73.94</a:t>
                      </a:r>
                      <a:r>
                        <a:rPr lang="es-ES" sz="12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%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3,687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291.0 k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b="1" dirty="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76.13</a:t>
                      </a:r>
                      <a:r>
                        <a:rPr lang="es-ES" sz="1200" b="1" u="none" strike="noStrike" cap="none" dirty="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%</a:t>
                      </a:r>
                      <a:endParaRPr sz="1200" b="1" u="none" strike="noStrike" cap="none" dirty="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89" name="Google Shape;189;g39324d589d8_0_0">
            <a:extLst>
              <a:ext uri="{FF2B5EF4-FFF2-40B4-BE49-F238E27FC236}">
                <a16:creationId xmlns:a16="http://schemas.microsoft.com/office/drawing/2014/main" id="{9BE71126-7564-BEAF-A4C9-6458A3D923A8}"/>
              </a:ext>
            </a:extLst>
          </p:cNvPr>
          <p:cNvCxnSpPr/>
          <p:nvPr/>
        </p:nvCxnSpPr>
        <p:spPr>
          <a:xfrm rot="10800000" flipH="1">
            <a:off x="124950" y="971445"/>
            <a:ext cx="8894100" cy="7500"/>
          </a:xfrm>
          <a:prstGeom prst="straightConnector1">
            <a:avLst/>
          </a:prstGeom>
          <a:noFill/>
          <a:ln w="19050" cap="flat" cmpd="sng">
            <a:solidFill>
              <a:srgbClr val="E5FF0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76;g392017eaa25_0_155">
            <a:extLst>
              <a:ext uri="{FF2B5EF4-FFF2-40B4-BE49-F238E27FC236}">
                <a16:creationId xmlns:a16="http://schemas.microsoft.com/office/drawing/2014/main" id="{486AD766-1838-C9C9-FF6C-98EE64CE8266}"/>
              </a:ext>
            </a:extLst>
          </p:cNvPr>
          <p:cNvSpPr txBox="1"/>
          <p:nvPr/>
        </p:nvSpPr>
        <p:spPr>
          <a:xfrm>
            <a:off x="85200" y="169055"/>
            <a:ext cx="8973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buSzPts val="1900"/>
            </a:pPr>
            <a:r>
              <a:rPr lang="es-ES" b="1" dirty="0">
                <a:solidFill>
                  <a:srgbClr val="11111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</a:rPr>
              <a:t>Potencial estimado por Categorías:</a:t>
            </a:r>
            <a:r>
              <a:rPr lang="es-ES" b="1" dirty="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s-ES" dirty="0">
                <a:solidFill>
                  <a:srgbClr val="111111"/>
                </a:solidFill>
                <a:latin typeface="Albert Sans" panose="020B0604020202020204" charset="0"/>
                <a:ea typeface="Space Grotesk Medium"/>
                <a:cs typeface="Space Grotesk Medium"/>
                <a:sym typeface="Space Grotesk Medium"/>
              </a:rPr>
              <a:t>Coca Cola es la </a:t>
            </a:r>
            <a:r>
              <a:rPr lang="es-ES" dirty="0">
                <a:solidFill>
                  <a:srgbClr val="111111"/>
                </a:solidFill>
                <a:latin typeface="Albert Sans" panose="020B0604020202020204" charset="0"/>
                <a:ea typeface="Space Grotesk Medium"/>
                <a:cs typeface="Space Grotesk Medium"/>
                <a:sym typeface="Space Grotesk Medium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</a:ext>
                </a:extLst>
              </a:rPr>
              <a:t>categoría</a:t>
            </a:r>
            <a:r>
              <a:rPr lang="es-ES" dirty="0">
                <a:solidFill>
                  <a:srgbClr val="111111"/>
                </a:solidFill>
                <a:latin typeface="Albert Sans" panose="020B0604020202020204" charset="0"/>
                <a:ea typeface="Space Grotesk Medium"/>
                <a:cs typeface="Space Grotesk Medium"/>
                <a:sym typeface="Space Grotesk Medium"/>
              </a:rPr>
              <a:t> que presenta un mayor </a:t>
            </a:r>
            <a:r>
              <a:rPr lang="es-ES" dirty="0">
                <a:solidFill>
                  <a:srgbClr val="111111"/>
                </a:solidFill>
                <a:latin typeface="Albert Sans" panose="020B0604020202020204" charset="0"/>
                <a:ea typeface="Space Grotesk Medium"/>
                <a:cs typeface="Space Grotesk Medium"/>
                <a:sym typeface="Space Grotesk Medium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</a:ext>
                </a:extLst>
              </a:rPr>
              <a:t>crecimiento</a:t>
            </a:r>
            <a:r>
              <a:rPr lang="es-ES" dirty="0">
                <a:solidFill>
                  <a:srgbClr val="111111"/>
                </a:solidFill>
                <a:latin typeface="Albert Sans" panose="020B0604020202020204" charset="0"/>
                <a:ea typeface="Space Grotesk Medium"/>
                <a:cs typeface="Space Grotesk Medium"/>
                <a:sym typeface="Space Grotesk Medium"/>
              </a:rPr>
              <a:t>, con 44.2% en Very High, seguido por Single Serve con 42.71%. Para generar un impacto más directo, los esfuerzos deben ser concentrados en estos dos segmentos.</a:t>
            </a:r>
            <a:endParaRPr lang="es-ES" dirty="0">
              <a:solidFill>
                <a:srgbClr val="111111"/>
              </a:solidFill>
              <a:latin typeface="Albert Sans" panose="020B0604020202020204" charset="0"/>
              <a:ea typeface="Space Grotesk"/>
              <a:cs typeface="Space Grotesk"/>
              <a:sym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25776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082FB91D-A1A2-DA4D-C248-243129DFE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2017eaa25_0_261">
            <a:extLst>
              <a:ext uri="{FF2B5EF4-FFF2-40B4-BE49-F238E27FC236}">
                <a16:creationId xmlns:a16="http://schemas.microsoft.com/office/drawing/2014/main" id="{BADBEB57-1137-CE92-E782-F8DDF419CB40}"/>
              </a:ext>
            </a:extLst>
          </p:cNvPr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92017eaa25_0_261">
            <a:extLst>
              <a:ext uri="{FF2B5EF4-FFF2-40B4-BE49-F238E27FC236}">
                <a16:creationId xmlns:a16="http://schemas.microsoft.com/office/drawing/2014/main" id="{FBCC7010-ED5C-F3FD-7107-DE4C091BB298}"/>
              </a:ext>
            </a:extLst>
          </p:cNvPr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98" name="Google Shape;198;g392017eaa25_0_261">
            <a:extLst>
              <a:ext uri="{FF2B5EF4-FFF2-40B4-BE49-F238E27FC236}">
                <a16:creationId xmlns:a16="http://schemas.microsoft.com/office/drawing/2014/main" id="{249DCF7B-6630-10A0-A071-C0C128432868}"/>
              </a:ext>
            </a:extLst>
          </p:cNvPr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99" name="Google Shape;199;g392017eaa25_0_261">
            <a:extLst>
              <a:ext uri="{FF2B5EF4-FFF2-40B4-BE49-F238E27FC236}">
                <a16:creationId xmlns:a16="http://schemas.microsoft.com/office/drawing/2014/main" id="{C0FA8C9C-4ABD-77F2-A578-294945EE46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2" name="Google Shape;202;g392017eaa25_0_261">
            <a:extLst>
              <a:ext uri="{FF2B5EF4-FFF2-40B4-BE49-F238E27FC236}">
                <a16:creationId xmlns:a16="http://schemas.microsoft.com/office/drawing/2014/main" id="{C202AB7A-DFBE-0DB8-254A-BA5621B51E86}"/>
              </a:ext>
            </a:extLst>
          </p:cNvPr>
          <p:cNvGraphicFramePr/>
          <p:nvPr/>
        </p:nvGraphicFramePr>
        <p:xfrm>
          <a:off x="214288" y="1172169"/>
          <a:ext cx="8635775" cy="3151303"/>
        </p:xfrm>
        <a:graphic>
          <a:graphicData uri="http://schemas.openxmlformats.org/drawingml/2006/table">
            <a:tbl>
              <a:tblPr>
                <a:noFill/>
                <a:tableStyleId>{F1FCE52B-76FC-4316-819C-EA5C322EE713}</a:tableStyleId>
              </a:tblPr>
              <a:tblGrid>
                <a:gridCol w="363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2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68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Subchannel - Top 5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PDV [n]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Aporte al crecimiento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(Total Portafolio)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Aporte al crecimiento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(Coca Cola)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Aporte al crecimiento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(Sparkling Flavors)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Aporte al crecimiento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(Single Serve)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ABARROTES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3,357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44.24%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43.82%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42.35%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40.64%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OTROS ABARROTES LOCALES O TRADICIONALES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1,658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13.7%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13.73%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11.13%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11.53%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HOGAR CON VENTA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4,397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12.77%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15.1%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13.43%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11.69%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OTROS LICOR/CERVEZA/VINO/REFRESCO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1,019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5.37%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5.74%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5.09%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6.44%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FRUTAS Y VERDURAS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459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3.82%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4.26%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2.77%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3.73%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OTROS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7,615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20.1%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17.35%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25.22%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25.97%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TOTAL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18,505</a:t>
                      </a:r>
                      <a:endParaRPr sz="11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100%</a:t>
                      </a:r>
                      <a:endParaRPr sz="11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100%</a:t>
                      </a:r>
                      <a:endParaRPr sz="11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100%</a:t>
                      </a:r>
                      <a:endParaRPr sz="11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100%</a:t>
                      </a:r>
                      <a:endParaRPr sz="11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Google Shape;176;g392017eaa25_0_155">
            <a:extLst>
              <a:ext uri="{FF2B5EF4-FFF2-40B4-BE49-F238E27FC236}">
                <a16:creationId xmlns:a16="http://schemas.microsoft.com/office/drawing/2014/main" id="{97443615-0400-8BFB-8EC3-78884801F7EC}"/>
              </a:ext>
            </a:extLst>
          </p:cNvPr>
          <p:cNvSpPr txBox="1"/>
          <p:nvPr/>
        </p:nvSpPr>
        <p:spPr>
          <a:xfrm>
            <a:off x="85200" y="169055"/>
            <a:ext cx="8973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s-ES" b="1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ABARROTES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 y </a:t>
            </a:r>
            <a:r>
              <a:rPr lang="es-ES" b="1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OTROS ABARROTES LOCALES O TRADICIONALES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 </a:t>
            </a:r>
            <a:r>
              <a:rPr lang="es-ES" dirty="0">
                <a:solidFill>
                  <a:srgbClr val="11111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lideran en potencial en todas las </a:t>
            </a:r>
            <a:r>
              <a:rPr lang="es-ES" dirty="0">
                <a:solidFill>
                  <a:srgbClr val="11111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</a:ext>
                </a:extLst>
              </a:rPr>
              <a:t>categorías, destacándose </a:t>
            </a:r>
            <a:r>
              <a:rPr lang="es-ES" dirty="0">
                <a:solidFill>
                  <a:srgbClr val="11111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como los </a:t>
            </a:r>
            <a:r>
              <a:rPr lang="es-ES" dirty="0" err="1">
                <a:solidFill>
                  <a:srgbClr val="11111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subcanales</a:t>
            </a:r>
            <a:r>
              <a:rPr lang="es-ES" dirty="0">
                <a:solidFill>
                  <a:srgbClr val="11111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 con la mayor concentración de oportunidades, especialmente en</a:t>
            </a:r>
            <a:r>
              <a:rPr lang="es-ES" b="1" dirty="0">
                <a:solidFill>
                  <a:srgbClr val="11111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 </a:t>
            </a:r>
            <a:r>
              <a:rPr lang="es-ES" b="1" dirty="0" err="1">
                <a:solidFill>
                  <a:srgbClr val="11111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Sparkling</a:t>
            </a:r>
            <a:r>
              <a:rPr lang="es-ES" b="1" dirty="0">
                <a:solidFill>
                  <a:srgbClr val="11111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 Flavors y Coca Cola.</a:t>
            </a:r>
          </a:p>
        </p:txBody>
      </p:sp>
      <p:cxnSp>
        <p:nvCxnSpPr>
          <p:cNvPr id="3" name="Google Shape;200;g392017eaa25_0_261">
            <a:extLst>
              <a:ext uri="{FF2B5EF4-FFF2-40B4-BE49-F238E27FC236}">
                <a16:creationId xmlns:a16="http://schemas.microsoft.com/office/drawing/2014/main" id="{CD90C8CF-2F40-0A29-CAED-4FACD0ED3174}"/>
              </a:ext>
            </a:extLst>
          </p:cNvPr>
          <p:cNvCxnSpPr/>
          <p:nvPr/>
        </p:nvCxnSpPr>
        <p:spPr>
          <a:xfrm>
            <a:off x="135900" y="973275"/>
            <a:ext cx="8872200" cy="10200"/>
          </a:xfrm>
          <a:prstGeom prst="straightConnector1">
            <a:avLst/>
          </a:prstGeom>
          <a:noFill/>
          <a:ln w="19050" cap="flat" cmpd="sng">
            <a:solidFill>
              <a:srgbClr val="E5FF0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55189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6FED44DC-0482-E206-BF17-723BC535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324d589d8_0_66">
            <a:extLst>
              <a:ext uri="{FF2B5EF4-FFF2-40B4-BE49-F238E27FC236}">
                <a16:creationId xmlns:a16="http://schemas.microsoft.com/office/drawing/2014/main" id="{E293627F-F227-33B3-91A5-A8A7F30F4636}"/>
              </a:ext>
            </a:extLst>
          </p:cNvPr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9324d589d8_0_66">
            <a:extLst>
              <a:ext uri="{FF2B5EF4-FFF2-40B4-BE49-F238E27FC236}">
                <a16:creationId xmlns:a16="http://schemas.microsoft.com/office/drawing/2014/main" id="{9676A3E6-ED98-7970-8ACB-2E0BC8C81943}"/>
              </a:ext>
            </a:extLst>
          </p:cNvPr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10" name="Google Shape;210;g39324d589d8_0_66">
            <a:extLst>
              <a:ext uri="{FF2B5EF4-FFF2-40B4-BE49-F238E27FC236}">
                <a16:creationId xmlns:a16="http://schemas.microsoft.com/office/drawing/2014/main" id="{5B7CFF34-4AF1-C421-B5EB-582649431B9A}"/>
              </a:ext>
            </a:extLst>
          </p:cNvPr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211" name="Google Shape;211;g39324d589d8_0_66">
            <a:extLst>
              <a:ext uri="{FF2B5EF4-FFF2-40B4-BE49-F238E27FC236}">
                <a16:creationId xmlns:a16="http://schemas.microsoft.com/office/drawing/2014/main" id="{9CDB3975-F4AD-9243-3582-5617BC7734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4" name="Google Shape;214;g39324d589d8_0_66">
            <a:extLst>
              <a:ext uri="{FF2B5EF4-FFF2-40B4-BE49-F238E27FC236}">
                <a16:creationId xmlns:a16="http://schemas.microsoft.com/office/drawing/2014/main" id="{E4E7F882-6BDE-BE5D-1F14-A6EDC6549229}"/>
              </a:ext>
            </a:extLst>
          </p:cNvPr>
          <p:cNvGraphicFramePr/>
          <p:nvPr/>
        </p:nvGraphicFramePr>
        <p:xfrm>
          <a:off x="532113" y="1050264"/>
          <a:ext cx="8079775" cy="3209870"/>
        </p:xfrm>
        <a:graphic>
          <a:graphicData uri="http://schemas.openxmlformats.org/drawingml/2006/table">
            <a:tbl>
              <a:tblPr>
                <a:noFill/>
                <a:tableStyleId>{F1FCE52B-76FC-4316-819C-EA5C322EE713}</a:tableStyleId>
              </a:tblPr>
              <a:tblGrid>
                <a:gridCol w="236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8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68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City - Top 5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PDV [n]</a:t>
                      </a:r>
                      <a:endParaRPr sz="11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Aporte al crecimiento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(Total Portafolio)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Aporte al crecimiento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(Coca Cola)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Aporte al crecimiento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(Sparkling Flavors)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Aporte al crecimiento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(Single Serve)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4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TEPIC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5,742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29.32%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27.25%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26.63%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27.38%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BAHIA DE BANDERAS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2,108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20.15%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18.96%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18.23%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18.1%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PUERTO VALLARTA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2,949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19.47%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21.21%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19.28%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22.09%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SANTIAGO IXCUINTLA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1,493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6.48%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7.02%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8.09%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7.19%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COMPOSTELA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1,125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6.21%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5.79%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7.09%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6.83%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OTROS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5,088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18.37%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19.77%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20.68%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18.42%</a:t>
                      </a:r>
                      <a:endParaRPr sz="1200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4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solidFill>
                            <a:srgbClr val="00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TOTAL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18,505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100%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100%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100%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s-ES" sz="1200" b="1" u="none" strike="noStrike" cap="none"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100%</a:t>
                      </a:r>
                      <a:endParaRPr sz="1200" b="1" u="none" strike="noStrike" cap="none"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6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Google Shape;176;g392017eaa25_0_155">
            <a:extLst>
              <a:ext uri="{FF2B5EF4-FFF2-40B4-BE49-F238E27FC236}">
                <a16:creationId xmlns:a16="http://schemas.microsoft.com/office/drawing/2014/main" id="{299AD1A4-822B-E0CC-5A88-6A098F9DB697}"/>
              </a:ext>
            </a:extLst>
          </p:cNvPr>
          <p:cNvSpPr txBox="1"/>
          <p:nvPr/>
        </p:nvSpPr>
        <p:spPr>
          <a:xfrm>
            <a:off x="85200" y="169055"/>
            <a:ext cx="8973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s-ES" b="1" dirty="0">
                <a:solidFill>
                  <a:schemeClr val="dk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</a:rPr>
              <a:t>Los 5 territorios con mayor potencial de crecimiento:</a:t>
            </a:r>
            <a:r>
              <a:rPr lang="es-ES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Los departamentos de Montevideo y Canelones lideran con el mayor 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7"/>
                  </a:ext>
                </a:extLst>
              </a:rPr>
              <a:t>crecimiento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, principalmente en Single Serve y Coca Cola, siendo también los territorios 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8"/>
                  </a:ext>
                </a:extLst>
              </a:rPr>
              <a:t>con 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mayor concentración de clientes.</a:t>
            </a:r>
            <a:endParaRPr lang="es-ES" dirty="0">
              <a:solidFill>
                <a:srgbClr val="111111"/>
              </a:solidFill>
              <a:latin typeface="Albert Sans" panose="020B0604020202020204" charset="0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3" name="Google Shape;212;g39324d589d8_0_66">
            <a:extLst>
              <a:ext uri="{FF2B5EF4-FFF2-40B4-BE49-F238E27FC236}">
                <a16:creationId xmlns:a16="http://schemas.microsoft.com/office/drawing/2014/main" id="{94B28B0F-9C41-1406-8148-3DBED45DA3EB}"/>
              </a:ext>
            </a:extLst>
          </p:cNvPr>
          <p:cNvCxnSpPr/>
          <p:nvPr/>
        </p:nvCxnSpPr>
        <p:spPr>
          <a:xfrm>
            <a:off x="135900" y="960575"/>
            <a:ext cx="8872200" cy="10200"/>
          </a:xfrm>
          <a:prstGeom prst="straightConnector1">
            <a:avLst/>
          </a:prstGeom>
          <a:noFill/>
          <a:ln w="19050" cap="flat" cmpd="sng">
            <a:solidFill>
              <a:srgbClr val="E5FF0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614976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B859149F-5995-6AE3-A14D-CD858EC0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324d589d8_0_20">
            <a:extLst>
              <a:ext uri="{FF2B5EF4-FFF2-40B4-BE49-F238E27FC236}">
                <a16:creationId xmlns:a16="http://schemas.microsoft.com/office/drawing/2014/main" id="{84FE04FD-0AC6-BACD-D641-99402A53D021}"/>
              </a:ext>
            </a:extLst>
          </p:cNvPr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9324d589d8_0_20">
            <a:extLst>
              <a:ext uri="{FF2B5EF4-FFF2-40B4-BE49-F238E27FC236}">
                <a16:creationId xmlns:a16="http://schemas.microsoft.com/office/drawing/2014/main" id="{A2B7BA8D-5CCE-2EC9-3F72-B7144281DEDB}"/>
              </a:ext>
            </a:extLst>
          </p:cNvPr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23" name="Google Shape;223;g39324d589d8_0_20">
            <a:extLst>
              <a:ext uri="{FF2B5EF4-FFF2-40B4-BE49-F238E27FC236}">
                <a16:creationId xmlns:a16="http://schemas.microsoft.com/office/drawing/2014/main" id="{DB5AA9A2-5C47-68F6-0C13-88000EE1C9B3}"/>
              </a:ext>
            </a:extLst>
          </p:cNvPr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224" name="Google Shape;224;g39324d589d8_0_20">
            <a:extLst>
              <a:ext uri="{FF2B5EF4-FFF2-40B4-BE49-F238E27FC236}">
                <a16:creationId xmlns:a16="http://schemas.microsoft.com/office/drawing/2014/main" id="{6A23D63E-94CE-CB18-80D3-C41DF63C77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9324d589d8_0_20">
            <a:extLst>
              <a:ext uri="{FF2B5EF4-FFF2-40B4-BE49-F238E27FC236}">
                <a16:creationId xmlns:a16="http://schemas.microsoft.com/office/drawing/2014/main" id="{80D22874-32CE-3A46-E3FE-0023327F41B5}"/>
              </a:ext>
            </a:extLst>
          </p:cNvPr>
          <p:cNvSpPr txBox="1"/>
          <p:nvPr/>
        </p:nvSpPr>
        <p:spPr>
          <a:xfrm>
            <a:off x="1744348" y="4101827"/>
            <a:ext cx="123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Tepic</a:t>
            </a:r>
            <a:endParaRPr sz="1200" b="1" i="0" u="none" strike="noStrike" cap="none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6" name="Google Shape;226;g39324d589d8_0_20">
            <a:extLst>
              <a:ext uri="{FF2B5EF4-FFF2-40B4-BE49-F238E27FC236}">
                <a16:creationId xmlns:a16="http://schemas.microsoft.com/office/drawing/2014/main" id="{44AD13AF-6191-B3DD-AF3C-4C5B9789A31E}"/>
              </a:ext>
            </a:extLst>
          </p:cNvPr>
          <p:cNvSpPr txBox="1"/>
          <p:nvPr/>
        </p:nvSpPr>
        <p:spPr>
          <a:xfrm>
            <a:off x="6322052" y="4090228"/>
            <a:ext cx="1562923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Bahia De Banderas</a:t>
            </a:r>
            <a:endParaRPr sz="1200" b="1" i="0" u="none" strike="noStrike" cap="none" dirty="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" name="Google Shape;176;g392017eaa25_0_155">
            <a:extLst>
              <a:ext uri="{FF2B5EF4-FFF2-40B4-BE49-F238E27FC236}">
                <a16:creationId xmlns:a16="http://schemas.microsoft.com/office/drawing/2014/main" id="{702C24C7-A1C0-D15B-5B46-F2ADB43EC46B}"/>
              </a:ext>
            </a:extLst>
          </p:cNvPr>
          <p:cNvSpPr txBox="1"/>
          <p:nvPr/>
        </p:nvSpPr>
        <p:spPr>
          <a:xfrm>
            <a:off x="85200" y="169055"/>
            <a:ext cx="89736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s-ES" b="1" dirty="0">
                <a:solidFill>
                  <a:schemeClr val="dk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</a:rPr>
              <a:t>Departamento de Tepic y Bahia De Banderas:</a:t>
            </a:r>
            <a:r>
              <a:rPr lang="es-ES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Fueron identificados 5,742 POS en Tepic con un 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  <a:extLst>
                  <a:ext uri="http://customooxmlschemas.google.com/">
                    <go:slidesCustomData xmlns:lc="http://schemas.openxmlformats.org/drawingml/2006/lockedCanvas"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9"/>
                  </a:ext>
                </a:extLst>
              </a:rPr>
              <a:t>crecimiento</a:t>
            </a:r>
            <a:r>
              <a:rPr lang="es-ES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 promedio de 9%, mientras que en Bahia De Banderas se encuentran 2,108 POS con un promedio de 10%.</a:t>
            </a:r>
            <a:endParaRPr lang="es-ES" dirty="0">
              <a:solidFill>
                <a:srgbClr val="111111"/>
              </a:solidFill>
              <a:latin typeface="Albert Sans" panose="020B0604020202020204" charset="0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3" name="Google Shape;212;g39324d589d8_0_66">
            <a:extLst>
              <a:ext uri="{FF2B5EF4-FFF2-40B4-BE49-F238E27FC236}">
                <a16:creationId xmlns:a16="http://schemas.microsoft.com/office/drawing/2014/main" id="{AA0B851A-DC9A-CDE6-7A88-DA52460A11F3}"/>
              </a:ext>
            </a:extLst>
          </p:cNvPr>
          <p:cNvCxnSpPr/>
          <p:nvPr/>
        </p:nvCxnSpPr>
        <p:spPr>
          <a:xfrm>
            <a:off x="135900" y="960575"/>
            <a:ext cx="8872200" cy="10200"/>
          </a:xfrm>
          <a:prstGeom prst="straightConnector1">
            <a:avLst/>
          </a:prstGeom>
          <a:noFill/>
          <a:ln w="19050" cap="flat" cmpd="sng">
            <a:solidFill>
              <a:srgbClr val="E5FF0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F71843D-A881-34B2-49E3-4F66EE6F7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50" y="1375467"/>
            <a:ext cx="4462096" cy="2571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FD5996-94B9-E8D0-15E7-0472B9625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280" y="1355182"/>
            <a:ext cx="3712085" cy="259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5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c7ced402f_1_185"/>
          <p:cNvSpPr txBox="1">
            <a:spLocks noGrp="1"/>
          </p:cNvSpPr>
          <p:nvPr>
            <p:ph type="title"/>
          </p:nvPr>
        </p:nvSpPr>
        <p:spPr>
          <a:xfrm>
            <a:off x="6046850" y="2384600"/>
            <a:ext cx="22062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ES" sz="2300">
                <a:solidFill>
                  <a:srgbClr val="E5FF0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Prioridades</a:t>
            </a:r>
            <a:endParaRPr sz="2300">
              <a:solidFill>
                <a:srgbClr val="E5FF0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5" name="Google Shape;235;g35c7ced402f_1_185"/>
          <p:cNvSpPr txBox="1"/>
          <p:nvPr/>
        </p:nvSpPr>
        <p:spPr>
          <a:xfrm>
            <a:off x="4083550" y="1844600"/>
            <a:ext cx="16200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lang="es-ES" sz="10000" b="1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s-ES" sz="10000" b="1" i="0" u="none" strike="noStrike" cap="non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sz="10000" b="1" i="0" u="none" strike="noStrike" cap="non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>
          <a:extLst>
            <a:ext uri="{FF2B5EF4-FFF2-40B4-BE49-F238E27FC236}">
              <a16:creationId xmlns:a16="http://schemas.microsoft.com/office/drawing/2014/main" id="{C52AB22B-EDF4-F9CC-93BC-B0432172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39145f930_0_642">
            <a:extLst>
              <a:ext uri="{FF2B5EF4-FFF2-40B4-BE49-F238E27FC236}">
                <a16:creationId xmlns:a16="http://schemas.microsoft.com/office/drawing/2014/main" id="{2E53A9F2-A08B-4F20-6EFC-FB9EB5D51D63}"/>
              </a:ext>
            </a:extLst>
          </p:cNvPr>
          <p:cNvSpPr/>
          <p:nvPr/>
        </p:nvSpPr>
        <p:spPr>
          <a:xfrm>
            <a:off x="-1371394" y="1443018"/>
            <a:ext cx="4086097" cy="548640"/>
          </a:xfrm>
          <a:custGeom>
            <a:avLst/>
            <a:gdLst/>
            <a:ahLst/>
            <a:cxnLst/>
            <a:rect l="l" t="t" r="r" b="b"/>
            <a:pathLst>
              <a:path w="4540108" h="609600" extrusionOk="0">
                <a:moveTo>
                  <a:pt x="203200" y="609600"/>
                </a:moveTo>
                <a:lnTo>
                  <a:pt x="4336908" y="609600"/>
                </a:lnTo>
                <a:lnTo>
                  <a:pt x="4540108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4242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939145f930_0_642">
            <a:extLst>
              <a:ext uri="{FF2B5EF4-FFF2-40B4-BE49-F238E27FC236}">
                <a16:creationId xmlns:a16="http://schemas.microsoft.com/office/drawing/2014/main" id="{F2ABF20D-F152-BBB8-63DC-D46E365ADC8E}"/>
              </a:ext>
            </a:extLst>
          </p:cNvPr>
          <p:cNvSpPr/>
          <p:nvPr/>
        </p:nvSpPr>
        <p:spPr>
          <a:xfrm>
            <a:off x="-1189375" y="2014851"/>
            <a:ext cx="3721649" cy="548640"/>
          </a:xfrm>
          <a:custGeom>
            <a:avLst/>
            <a:gdLst/>
            <a:ahLst/>
            <a:cxnLst/>
            <a:rect l="l" t="t" r="r" b="b"/>
            <a:pathLst>
              <a:path w="4135165" h="609600" extrusionOk="0">
                <a:moveTo>
                  <a:pt x="203200" y="609600"/>
                </a:moveTo>
                <a:lnTo>
                  <a:pt x="3931965" y="609600"/>
                </a:lnTo>
                <a:lnTo>
                  <a:pt x="4135165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77777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939145f930_0_642">
            <a:extLst>
              <a:ext uri="{FF2B5EF4-FFF2-40B4-BE49-F238E27FC236}">
                <a16:creationId xmlns:a16="http://schemas.microsoft.com/office/drawing/2014/main" id="{E9519D8E-219A-FEDB-37F4-FD854CA26320}"/>
              </a:ext>
            </a:extLst>
          </p:cNvPr>
          <p:cNvSpPr/>
          <p:nvPr/>
        </p:nvSpPr>
        <p:spPr>
          <a:xfrm>
            <a:off x="-862098" y="2582017"/>
            <a:ext cx="3115720" cy="548640"/>
          </a:xfrm>
          <a:custGeom>
            <a:avLst/>
            <a:gdLst/>
            <a:ahLst/>
            <a:cxnLst/>
            <a:rect l="l" t="t" r="r" b="b"/>
            <a:pathLst>
              <a:path w="3323435" h="609600" extrusionOk="0">
                <a:moveTo>
                  <a:pt x="203200" y="609600"/>
                </a:moveTo>
                <a:lnTo>
                  <a:pt x="3120235" y="609600"/>
                </a:lnTo>
                <a:lnTo>
                  <a:pt x="3323435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DAF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939145f930_0_642">
            <a:extLst>
              <a:ext uri="{FF2B5EF4-FFF2-40B4-BE49-F238E27FC236}">
                <a16:creationId xmlns:a16="http://schemas.microsoft.com/office/drawing/2014/main" id="{CF715C84-3B16-A59B-BFAA-1422EA32D9FA}"/>
              </a:ext>
            </a:extLst>
          </p:cNvPr>
          <p:cNvSpPr txBox="1"/>
          <p:nvPr/>
        </p:nvSpPr>
        <p:spPr>
          <a:xfrm>
            <a:off x="3390701" y="1632838"/>
            <a:ext cx="4405500" cy="1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79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del volumen estimado se concentra en el 20% de los clientes 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g3939145f930_0_642">
            <a:extLst>
              <a:ext uri="{FF2B5EF4-FFF2-40B4-BE49-F238E27FC236}">
                <a16:creationId xmlns:a16="http://schemas.microsoft.com/office/drawing/2014/main" id="{E56898CE-59D7-8637-ABCE-821BFF4DB9C8}"/>
              </a:ext>
            </a:extLst>
          </p:cNvPr>
          <p:cNvCxnSpPr/>
          <p:nvPr/>
        </p:nvCxnSpPr>
        <p:spPr>
          <a:xfrm>
            <a:off x="2632610" y="1585415"/>
            <a:ext cx="660000" cy="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245" name="Google Shape;245;g3939145f930_0_642">
            <a:extLst>
              <a:ext uri="{FF2B5EF4-FFF2-40B4-BE49-F238E27FC236}">
                <a16:creationId xmlns:a16="http://schemas.microsoft.com/office/drawing/2014/main" id="{3F11A6F0-2CBD-21FC-7C88-ABA435BF502F}"/>
              </a:ext>
            </a:extLst>
          </p:cNvPr>
          <p:cNvSpPr txBox="1"/>
          <p:nvPr/>
        </p:nvSpPr>
        <p:spPr>
          <a:xfrm>
            <a:off x="0" y="1500811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Potencial</a:t>
            </a:r>
            <a:endParaRPr sz="21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g3939145f930_0_642">
            <a:extLst>
              <a:ext uri="{FF2B5EF4-FFF2-40B4-BE49-F238E27FC236}">
                <a16:creationId xmlns:a16="http://schemas.microsoft.com/office/drawing/2014/main" id="{4247EF78-CF87-41E2-AA9F-24DA10D942B9}"/>
              </a:ext>
            </a:extLst>
          </p:cNvPr>
          <p:cNvSpPr txBox="1"/>
          <p:nvPr/>
        </p:nvSpPr>
        <p:spPr>
          <a:xfrm>
            <a:off x="0" y="2127620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 canal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939145f930_0_642">
            <a:extLst>
              <a:ext uri="{FF2B5EF4-FFF2-40B4-BE49-F238E27FC236}">
                <a16:creationId xmlns:a16="http://schemas.microsoft.com/office/drawing/2014/main" id="{1F5E5F20-4EDC-7052-92DA-5C11E7CBE931}"/>
              </a:ext>
            </a:extLst>
          </p:cNvPr>
          <p:cNvSpPr txBox="1"/>
          <p:nvPr/>
        </p:nvSpPr>
        <p:spPr>
          <a:xfrm>
            <a:off x="1" y="2690949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Ciudad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939145f930_0_642">
            <a:extLst>
              <a:ext uri="{FF2B5EF4-FFF2-40B4-BE49-F238E27FC236}">
                <a16:creationId xmlns:a16="http://schemas.microsoft.com/office/drawing/2014/main" id="{232E78B9-EEEC-F73A-D579-314A51BD859F}"/>
              </a:ext>
            </a:extLst>
          </p:cNvPr>
          <p:cNvSpPr txBox="1"/>
          <p:nvPr/>
        </p:nvSpPr>
        <p:spPr>
          <a:xfrm>
            <a:off x="3292610" y="1106239"/>
            <a:ext cx="5257800" cy="57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Very High y </a:t>
            </a:r>
            <a:r>
              <a:rPr lang="es-ES" sz="1200" b="1" i="0" u="none" strike="noStrike" cap="none" dirty="0" err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high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166.4k UC/mes - 3.7K clientes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g3939145f930_0_642">
            <a:extLst>
              <a:ext uri="{FF2B5EF4-FFF2-40B4-BE49-F238E27FC236}">
                <a16:creationId xmlns:a16="http://schemas.microsoft.com/office/drawing/2014/main" id="{064EBC05-666B-A61E-9025-C9DD21E7A8CC}"/>
              </a:ext>
            </a:extLst>
          </p:cNvPr>
          <p:cNvSpPr txBox="1"/>
          <p:nvPr/>
        </p:nvSpPr>
        <p:spPr>
          <a:xfrm>
            <a:off x="0" y="917050"/>
            <a:ext cx="3119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100" b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18.5</a:t>
            </a:r>
            <a:r>
              <a:rPr lang="es-ES" sz="11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K Clientes Actuales Total Portafolio</a:t>
            </a:r>
            <a:endParaRPr sz="1100" b="1" i="0" u="none" strike="noStrike" cap="none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g3939145f930_0_642">
            <a:extLst>
              <a:ext uri="{FF2B5EF4-FFF2-40B4-BE49-F238E27FC236}">
                <a16:creationId xmlns:a16="http://schemas.microsoft.com/office/drawing/2014/main" id="{9CE1A1B5-E4C3-5A6B-0904-AD45D95821DB}"/>
              </a:ext>
            </a:extLst>
          </p:cNvPr>
          <p:cNvSpPr txBox="1"/>
          <p:nvPr/>
        </p:nvSpPr>
        <p:spPr>
          <a:xfrm>
            <a:off x="7" y="1185590"/>
            <a:ext cx="2710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21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000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210.6k</a:t>
            </a:r>
            <a:r>
              <a:rPr lang="es-ES" sz="1000" b="0" i="0" u="none" strike="noStrike" cap="none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UC/mes</a:t>
            </a:r>
            <a:endParaRPr sz="1000" b="0" i="0" u="none" strike="noStrike" cap="none">
              <a:solidFill>
                <a:srgbClr val="333333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251" name="Google Shape;251;g3939145f930_0_642">
            <a:extLst>
              <a:ext uri="{FF2B5EF4-FFF2-40B4-BE49-F238E27FC236}">
                <a16:creationId xmlns:a16="http://schemas.microsoft.com/office/drawing/2014/main" id="{AC411A67-D92F-D2EA-80E0-352DA6C06448}"/>
              </a:ext>
            </a:extLst>
          </p:cNvPr>
          <p:cNvCxnSpPr/>
          <p:nvPr/>
        </p:nvCxnSpPr>
        <p:spPr>
          <a:xfrm rot="10800000" flipH="1">
            <a:off x="2436116" y="2190819"/>
            <a:ext cx="886200" cy="600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252" name="Google Shape;252;g3939145f930_0_642">
            <a:extLst>
              <a:ext uri="{FF2B5EF4-FFF2-40B4-BE49-F238E27FC236}">
                <a16:creationId xmlns:a16="http://schemas.microsoft.com/office/drawing/2014/main" id="{C4FD619C-AC9B-CF16-72CC-8A42EFA28DAD}"/>
              </a:ext>
            </a:extLst>
          </p:cNvPr>
          <p:cNvSpPr txBox="1"/>
          <p:nvPr/>
        </p:nvSpPr>
        <p:spPr>
          <a:xfrm>
            <a:off x="3282025" y="1773438"/>
            <a:ext cx="654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0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ABARROTES y OTROS ABARROTES LOCALES O TRADICIONALES </a:t>
            </a:r>
            <a:r>
              <a:rPr lang="es-ES" sz="10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s-ES" sz="10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114.3k UC/mes - 2.4K clientes</a:t>
            </a:r>
            <a:r>
              <a:rPr lang="es-ES" sz="10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0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g3939145f930_0_642">
            <a:extLst>
              <a:ext uri="{FF2B5EF4-FFF2-40B4-BE49-F238E27FC236}">
                <a16:creationId xmlns:a16="http://schemas.microsoft.com/office/drawing/2014/main" id="{AD2EA876-D4D3-E453-C4F8-2A4D3DD9D45D}"/>
              </a:ext>
            </a:extLst>
          </p:cNvPr>
          <p:cNvSpPr txBox="1"/>
          <p:nvPr/>
        </p:nvSpPr>
        <p:spPr>
          <a:xfrm>
            <a:off x="3390701" y="2215534"/>
            <a:ext cx="4405500" cy="1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 dirty="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Este </a:t>
            </a:r>
            <a:r>
              <a:rPr lang="es-ES" sz="900" b="0" i="0" u="none" strike="noStrike" cap="none" dirty="0" err="1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subcanal</a:t>
            </a:r>
            <a:r>
              <a:rPr lang="es-ES" sz="900" b="0" i="0" u="none" strike="noStrike" cap="none" dirty="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 concentra el 5</a:t>
            </a:r>
            <a:r>
              <a:rPr lang="es-ES" sz="900" dirty="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  <a:r>
              <a:rPr lang="es-ES" sz="900" b="0" i="0" u="none" strike="noStrike" cap="none" dirty="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del volumen y el 1</a:t>
            </a:r>
            <a:r>
              <a:rPr lang="es-ES" sz="900" dirty="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r>
              <a:rPr lang="es-ES" sz="900" b="0" i="0" u="none" strike="noStrike" cap="none" dirty="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 los comercios</a:t>
            </a:r>
            <a:endParaRPr sz="900" b="0" i="0" u="none" strike="noStrike" cap="none" dirty="0">
              <a:solidFill>
                <a:srgbClr val="33333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54" name="Google Shape;254;g3939145f930_0_642">
            <a:extLst>
              <a:ext uri="{FF2B5EF4-FFF2-40B4-BE49-F238E27FC236}">
                <a16:creationId xmlns:a16="http://schemas.microsoft.com/office/drawing/2014/main" id="{A3A489AC-58F7-9B53-0070-C72BC772DD4D}"/>
              </a:ext>
            </a:extLst>
          </p:cNvPr>
          <p:cNvCxnSpPr/>
          <p:nvPr/>
        </p:nvCxnSpPr>
        <p:spPr>
          <a:xfrm rot="10800000" flipH="1">
            <a:off x="2239604" y="2862956"/>
            <a:ext cx="1045800" cy="1200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255" name="Google Shape;255;g3939145f930_0_642">
            <a:extLst>
              <a:ext uri="{FF2B5EF4-FFF2-40B4-BE49-F238E27FC236}">
                <a16:creationId xmlns:a16="http://schemas.microsoft.com/office/drawing/2014/main" id="{D5E05AE2-59E4-EF86-4755-ECCF0EA43F6A}"/>
              </a:ext>
            </a:extLst>
          </p:cNvPr>
          <p:cNvSpPr txBox="1"/>
          <p:nvPr/>
        </p:nvSpPr>
        <p:spPr>
          <a:xfrm>
            <a:off x="3383612" y="2848579"/>
            <a:ext cx="53205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grueso de la oportunidad se encuentra en estas ciudades que concentra el 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29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del volumen y 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7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 los POS</a:t>
            </a:r>
            <a:endParaRPr sz="900" b="0" i="0" u="none" strike="noStrike" cap="none">
              <a:solidFill>
                <a:srgbClr val="33333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6" name="Google Shape;256;g3939145f930_0_642">
            <a:extLst>
              <a:ext uri="{FF2B5EF4-FFF2-40B4-BE49-F238E27FC236}">
                <a16:creationId xmlns:a16="http://schemas.microsoft.com/office/drawing/2014/main" id="{9C05D32D-DDEE-41E5-C233-3B6172A6D007}"/>
              </a:ext>
            </a:extLst>
          </p:cNvPr>
          <p:cNvSpPr txBox="1"/>
          <p:nvPr/>
        </p:nvSpPr>
        <p:spPr>
          <a:xfrm>
            <a:off x="3282025" y="2431718"/>
            <a:ext cx="568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Tepic y Puerto Vallarta 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61.1k UC/mes - 1.3K clientes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g3939145f930_0_642">
            <a:extLst>
              <a:ext uri="{FF2B5EF4-FFF2-40B4-BE49-F238E27FC236}">
                <a16:creationId xmlns:a16="http://schemas.microsoft.com/office/drawing/2014/main" id="{495C4591-7BC6-1C6C-F90E-A582885B9FF8}"/>
              </a:ext>
            </a:extLst>
          </p:cNvPr>
          <p:cNvSpPr txBox="1"/>
          <p:nvPr/>
        </p:nvSpPr>
        <p:spPr>
          <a:xfrm>
            <a:off x="1690475" y="140950"/>
            <a:ext cx="568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Ultrasegmentación Total Portafolio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g3939145f930_0_642">
            <a:extLst>
              <a:ext uri="{FF2B5EF4-FFF2-40B4-BE49-F238E27FC236}">
                <a16:creationId xmlns:a16="http://schemas.microsoft.com/office/drawing/2014/main" id="{6CE6262F-9BA5-2F43-35AA-E95C422DD1F1}"/>
              </a:ext>
            </a:extLst>
          </p:cNvPr>
          <p:cNvCxnSpPr/>
          <p:nvPr/>
        </p:nvCxnSpPr>
        <p:spPr>
          <a:xfrm>
            <a:off x="193650" y="784753"/>
            <a:ext cx="8805600" cy="0"/>
          </a:xfrm>
          <a:prstGeom prst="straightConnector1">
            <a:avLst/>
          </a:prstGeom>
          <a:noFill/>
          <a:ln w="9525" cap="flat" cmpd="sng">
            <a:solidFill>
              <a:srgbClr val="EEFF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Google Shape;261;g3939145f930_0_642">
            <a:extLst>
              <a:ext uri="{FF2B5EF4-FFF2-40B4-BE49-F238E27FC236}">
                <a16:creationId xmlns:a16="http://schemas.microsoft.com/office/drawing/2014/main" id="{4AD08DCA-077C-B7AA-9EAA-B4E2627249B0}"/>
              </a:ext>
            </a:extLst>
          </p:cNvPr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939145f930_0_642">
            <a:extLst>
              <a:ext uri="{FF2B5EF4-FFF2-40B4-BE49-F238E27FC236}">
                <a16:creationId xmlns:a16="http://schemas.microsoft.com/office/drawing/2014/main" id="{FF1142A9-8BC1-9970-0D4A-963D4FCA9E7A}"/>
              </a:ext>
            </a:extLst>
          </p:cNvPr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63" name="Google Shape;263;g3939145f930_0_642">
            <a:extLst>
              <a:ext uri="{FF2B5EF4-FFF2-40B4-BE49-F238E27FC236}">
                <a16:creationId xmlns:a16="http://schemas.microsoft.com/office/drawing/2014/main" id="{7C41B19E-0CC0-24AC-42D3-8D328A6AC693}"/>
              </a:ext>
            </a:extLst>
          </p:cNvPr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264" name="Google Shape;264;g3939145f930_0_642">
            <a:extLst>
              <a:ext uri="{FF2B5EF4-FFF2-40B4-BE49-F238E27FC236}">
                <a16:creationId xmlns:a16="http://schemas.microsoft.com/office/drawing/2014/main" id="{2A8EC81A-1A6D-0AF5-04E8-720C0F0B7D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0;g3939145f930_0_670">
            <a:extLst>
              <a:ext uri="{FF2B5EF4-FFF2-40B4-BE49-F238E27FC236}">
                <a16:creationId xmlns:a16="http://schemas.microsoft.com/office/drawing/2014/main" id="{0D15BEE7-A705-924A-C380-6FA209F6AD23}"/>
              </a:ext>
            </a:extLst>
          </p:cNvPr>
          <p:cNvSpPr txBox="1"/>
          <p:nvPr/>
        </p:nvSpPr>
        <p:spPr>
          <a:xfrm>
            <a:off x="-274073" y="4137781"/>
            <a:ext cx="27102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321900"/>
              </a:lnSpc>
              <a:buSzPts val="1000"/>
            </a:pPr>
            <a:r>
              <a:rPr lang="es-ES" sz="1000" dirty="0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61.1 k UC/mes</a:t>
            </a:r>
          </a:p>
        </p:txBody>
      </p:sp>
      <p:sp>
        <p:nvSpPr>
          <p:cNvPr id="3" name="Google Shape;271;g3939145f930_0_670">
            <a:extLst>
              <a:ext uri="{FF2B5EF4-FFF2-40B4-BE49-F238E27FC236}">
                <a16:creationId xmlns:a16="http://schemas.microsoft.com/office/drawing/2014/main" id="{91D5C966-B896-9CCA-348F-DC0553D4FB28}"/>
              </a:ext>
            </a:extLst>
          </p:cNvPr>
          <p:cNvSpPr txBox="1"/>
          <p:nvPr/>
        </p:nvSpPr>
        <p:spPr>
          <a:xfrm>
            <a:off x="45955" y="3866214"/>
            <a:ext cx="2277000" cy="53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263357"/>
              </a:lnSpc>
              <a:buSzPts val="1400"/>
            </a:pPr>
            <a:r>
              <a:rPr lang="es-ES" sz="11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1300 Clientes segmentados</a:t>
            </a:r>
          </a:p>
        </p:txBody>
      </p:sp>
    </p:spTree>
    <p:extLst>
      <p:ext uri="{BB962C8B-B14F-4D97-AF65-F5344CB8AC3E}">
        <p14:creationId xmlns:p14="http://schemas.microsoft.com/office/powerpoint/2010/main" val="78158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39145f930_0_670"/>
          <p:cNvSpPr txBox="1"/>
          <p:nvPr/>
        </p:nvSpPr>
        <p:spPr>
          <a:xfrm>
            <a:off x="1690475" y="140950"/>
            <a:ext cx="568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Ultrasegmentación Colas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939145f930_0_670"/>
          <p:cNvSpPr txBox="1"/>
          <p:nvPr/>
        </p:nvSpPr>
        <p:spPr>
          <a:xfrm>
            <a:off x="-274073" y="4137781"/>
            <a:ext cx="27102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21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000" dirty="0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37.6</a:t>
            </a:r>
            <a:r>
              <a:rPr lang="es-ES" sz="1000" b="0" i="0" u="none" strike="noStrike" cap="none" dirty="0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k UC/mes </a:t>
            </a:r>
            <a:endParaRPr sz="1000" b="0" i="0" u="none" strike="noStrike" cap="none" dirty="0">
              <a:solidFill>
                <a:srgbClr val="333333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1" name="Google Shape;271;g3939145f930_0_670"/>
          <p:cNvSpPr txBox="1"/>
          <p:nvPr/>
        </p:nvSpPr>
        <p:spPr>
          <a:xfrm>
            <a:off x="45955" y="3866214"/>
            <a:ext cx="2277000" cy="53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1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1500 </a:t>
            </a:r>
            <a:r>
              <a:rPr lang="es-ES" sz="11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Clientes segmentados</a:t>
            </a:r>
            <a:endParaRPr sz="11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72" name="Google Shape;272;g3939145f930_0_670"/>
          <p:cNvCxnSpPr/>
          <p:nvPr/>
        </p:nvCxnSpPr>
        <p:spPr>
          <a:xfrm>
            <a:off x="193650" y="784753"/>
            <a:ext cx="8805600" cy="0"/>
          </a:xfrm>
          <a:prstGeom prst="straightConnector1">
            <a:avLst/>
          </a:prstGeom>
          <a:noFill/>
          <a:ln w="9525" cap="flat" cmpd="sng">
            <a:solidFill>
              <a:srgbClr val="EEFF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g3939145f930_0_670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939145f930_0_670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75" name="Google Shape;275;g3939145f930_0_670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276" name="Google Shape;276;g3939145f930_0_6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939145f930_0_670"/>
          <p:cNvSpPr txBox="1"/>
          <p:nvPr/>
        </p:nvSpPr>
        <p:spPr>
          <a:xfrm>
            <a:off x="0" y="917048"/>
            <a:ext cx="2710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100" b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18.0</a:t>
            </a:r>
            <a:r>
              <a:rPr lang="es-ES" sz="11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K Clientes Actuales Colas</a:t>
            </a:r>
            <a:endParaRPr sz="1100" b="1" i="0" u="none" strike="noStrike" cap="none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g3939145f930_0_670"/>
          <p:cNvSpPr txBox="1"/>
          <p:nvPr/>
        </p:nvSpPr>
        <p:spPr>
          <a:xfrm>
            <a:off x="7" y="1185590"/>
            <a:ext cx="2710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21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000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132.0k</a:t>
            </a:r>
            <a:r>
              <a:rPr lang="es-ES" sz="1000" b="0" i="0" u="none" strike="noStrike" cap="none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K UC/mes</a:t>
            </a:r>
            <a:endParaRPr sz="1000" b="0" i="0" u="none" strike="noStrike" cap="none">
              <a:solidFill>
                <a:srgbClr val="333333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279" name="Google Shape;279;g3939145f930_0_670"/>
          <p:cNvSpPr/>
          <p:nvPr/>
        </p:nvSpPr>
        <p:spPr>
          <a:xfrm>
            <a:off x="-1371394" y="1443018"/>
            <a:ext cx="4086097" cy="548640"/>
          </a:xfrm>
          <a:custGeom>
            <a:avLst/>
            <a:gdLst/>
            <a:ahLst/>
            <a:cxnLst/>
            <a:rect l="l" t="t" r="r" b="b"/>
            <a:pathLst>
              <a:path w="4540108" h="609600" extrusionOk="0">
                <a:moveTo>
                  <a:pt x="203200" y="609600"/>
                </a:moveTo>
                <a:lnTo>
                  <a:pt x="4336908" y="609600"/>
                </a:lnTo>
                <a:lnTo>
                  <a:pt x="4540108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4242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939145f930_0_670"/>
          <p:cNvSpPr/>
          <p:nvPr/>
        </p:nvSpPr>
        <p:spPr>
          <a:xfrm>
            <a:off x="-1189375" y="2014851"/>
            <a:ext cx="3721649" cy="548640"/>
          </a:xfrm>
          <a:custGeom>
            <a:avLst/>
            <a:gdLst/>
            <a:ahLst/>
            <a:cxnLst/>
            <a:rect l="l" t="t" r="r" b="b"/>
            <a:pathLst>
              <a:path w="4135165" h="609600" extrusionOk="0">
                <a:moveTo>
                  <a:pt x="203200" y="609600"/>
                </a:moveTo>
                <a:lnTo>
                  <a:pt x="3931965" y="609600"/>
                </a:lnTo>
                <a:lnTo>
                  <a:pt x="4135165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77777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939145f930_0_670"/>
          <p:cNvSpPr/>
          <p:nvPr/>
        </p:nvSpPr>
        <p:spPr>
          <a:xfrm>
            <a:off x="-862098" y="2582017"/>
            <a:ext cx="3115720" cy="548640"/>
          </a:xfrm>
          <a:custGeom>
            <a:avLst/>
            <a:gdLst/>
            <a:ahLst/>
            <a:cxnLst/>
            <a:rect l="l" t="t" r="r" b="b"/>
            <a:pathLst>
              <a:path w="3323435" h="609600" extrusionOk="0">
                <a:moveTo>
                  <a:pt x="203200" y="609600"/>
                </a:moveTo>
                <a:lnTo>
                  <a:pt x="3120235" y="609600"/>
                </a:lnTo>
                <a:lnTo>
                  <a:pt x="3323435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DAF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939145f930_0_670"/>
          <p:cNvSpPr txBox="1"/>
          <p:nvPr/>
        </p:nvSpPr>
        <p:spPr>
          <a:xfrm>
            <a:off x="3390701" y="1632838"/>
            <a:ext cx="4405500" cy="1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79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del volumen estimado se concentra en el 20% de los clientes 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3" name="Google Shape;283;g3939145f930_0_670"/>
          <p:cNvCxnSpPr/>
          <p:nvPr/>
        </p:nvCxnSpPr>
        <p:spPr>
          <a:xfrm>
            <a:off x="2632610" y="1585415"/>
            <a:ext cx="660000" cy="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284" name="Google Shape;284;g3939145f930_0_670"/>
          <p:cNvSpPr txBox="1"/>
          <p:nvPr/>
        </p:nvSpPr>
        <p:spPr>
          <a:xfrm>
            <a:off x="0" y="1500811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Potencial</a:t>
            </a:r>
            <a:endParaRPr sz="21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g3939145f930_0_670"/>
          <p:cNvSpPr txBox="1"/>
          <p:nvPr/>
        </p:nvSpPr>
        <p:spPr>
          <a:xfrm>
            <a:off x="0" y="2127620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 canal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939145f930_0_670"/>
          <p:cNvSpPr txBox="1"/>
          <p:nvPr/>
        </p:nvSpPr>
        <p:spPr>
          <a:xfrm>
            <a:off x="1" y="2690949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Ciudad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939145f930_0_670"/>
          <p:cNvSpPr txBox="1"/>
          <p:nvPr/>
        </p:nvSpPr>
        <p:spPr>
          <a:xfrm>
            <a:off x="3282025" y="1170631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Very High y </a:t>
            </a:r>
            <a:r>
              <a:rPr lang="es-ES" sz="1200" b="1" i="0" u="none" strike="noStrike" cap="none" dirty="0" err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high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103.9k UC/mes - 3.6K clientes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88" name="Google Shape;288;g3939145f930_0_670"/>
          <p:cNvCxnSpPr/>
          <p:nvPr/>
        </p:nvCxnSpPr>
        <p:spPr>
          <a:xfrm rot="10800000" flipH="1">
            <a:off x="2436116" y="2190819"/>
            <a:ext cx="886200" cy="600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289" name="Google Shape;289;g3939145f930_0_670"/>
          <p:cNvSpPr txBox="1"/>
          <p:nvPr/>
        </p:nvSpPr>
        <p:spPr>
          <a:xfrm>
            <a:off x="3292610" y="1788005"/>
            <a:ext cx="654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0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ABARROTES y OTROS ABARROTES LOCALES O TRADICIONALES </a:t>
            </a:r>
            <a:r>
              <a:rPr lang="es-ES" sz="10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s-ES" sz="10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70.4k UC/mes - 2.3K clientes</a:t>
            </a:r>
            <a:r>
              <a:rPr lang="es-ES" sz="10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0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g3939145f930_0_670"/>
          <p:cNvSpPr txBox="1"/>
          <p:nvPr/>
        </p:nvSpPr>
        <p:spPr>
          <a:xfrm>
            <a:off x="3390701" y="2215534"/>
            <a:ext cx="4405500" cy="1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Este subcanal concentra el 5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del volumen y el 1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 los comercios</a:t>
            </a:r>
            <a:endParaRPr sz="900" b="0" i="0" u="none" strike="noStrike" cap="none">
              <a:solidFill>
                <a:srgbClr val="33333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91" name="Google Shape;291;g3939145f930_0_670"/>
          <p:cNvCxnSpPr/>
          <p:nvPr/>
        </p:nvCxnSpPr>
        <p:spPr>
          <a:xfrm rot="10800000" flipH="1">
            <a:off x="2239604" y="2862956"/>
            <a:ext cx="1045800" cy="1200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292" name="Google Shape;292;g3939145f930_0_670"/>
          <p:cNvSpPr txBox="1"/>
          <p:nvPr/>
        </p:nvSpPr>
        <p:spPr>
          <a:xfrm>
            <a:off x="3383612" y="2848579"/>
            <a:ext cx="53205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grueso de la oportunidad se encuentra en estas ciudades que concentra el 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29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del volumen y 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7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 los POS</a:t>
            </a:r>
            <a:endParaRPr sz="900" b="0" i="0" u="none" strike="noStrike" cap="none">
              <a:solidFill>
                <a:srgbClr val="33333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3" name="Google Shape;293;g3939145f930_0_670"/>
          <p:cNvSpPr txBox="1"/>
          <p:nvPr/>
        </p:nvSpPr>
        <p:spPr>
          <a:xfrm>
            <a:off x="3282025" y="2404555"/>
            <a:ext cx="568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Tepic y Puerto Vallarta 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37.6k UC/mes - 1.3K clientes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39145f930_0_698"/>
          <p:cNvSpPr txBox="1"/>
          <p:nvPr/>
        </p:nvSpPr>
        <p:spPr>
          <a:xfrm>
            <a:off x="1690475" y="140950"/>
            <a:ext cx="568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Ultrasegmentación Flavors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939145f930_0_698"/>
          <p:cNvSpPr txBox="1"/>
          <p:nvPr/>
        </p:nvSpPr>
        <p:spPr>
          <a:xfrm>
            <a:off x="-274073" y="4137781"/>
            <a:ext cx="2710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21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000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3.5</a:t>
            </a:r>
            <a:r>
              <a:rPr lang="es-ES" sz="1000" b="0" i="0" u="none" strike="noStrike" cap="none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k UC/mes</a:t>
            </a:r>
            <a:endParaRPr sz="1000" b="0" i="0" u="none" strike="noStrike" cap="none">
              <a:solidFill>
                <a:srgbClr val="333333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00" name="Google Shape;300;g3939145f930_0_698"/>
          <p:cNvSpPr txBox="1"/>
          <p:nvPr/>
        </p:nvSpPr>
        <p:spPr>
          <a:xfrm>
            <a:off x="45955" y="3866214"/>
            <a:ext cx="2277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100" b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1100</a:t>
            </a:r>
            <a:r>
              <a:rPr lang="es-ES" sz="11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Clientes segmentados</a:t>
            </a:r>
            <a:endParaRPr sz="1100" b="1" i="0" u="none" strike="noStrike" cap="none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01" name="Google Shape;301;g3939145f930_0_698"/>
          <p:cNvCxnSpPr/>
          <p:nvPr/>
        </p:nvCxnSpPr>
        <p:spPr>
          <a:xfrm>
            <a:off x="193650" y="784753"/>
            <a:ext cx="8805600" cy="0"/>
          </a:xfrm>
          <a:prstGeom prst="straightConnector1">
            <a:avLst/>
          </a:prstGeom>
          <a:noFill/>
          <a:ln w="9525" cap="flat" cmpd="sng">
            <a:solidFill>
              <a:srgbClr val="EEFF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2" name="Google Shape;302;g3939145f930_0_698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939145f930_0_698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304" name="Google Shape;304;g3939145f930_0_698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305" name="Google Shape;305;g3939145f930_0_6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939145f930_0_698"/>
          <p:cNvSpPr txBox="1"/>
          <p:nvPr/>
        </p:nvSpPr>
        <p:spPr>
          <a:xfrm>
            <a:off x="0" y="917048"/>
            <a:ext cx="27102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100" b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18.2</a:t>
            </a:r>
            <a:r>
              <a:rPr lang="es-ES" sz="11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K Clientes Actuales Flavors</a:t>
            </a:r>
            <a:endParaRPr sz="1100" b="1" i="0" u="none" strike="noStrike" cap="none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g3939145f930_0_698"/>
          <p:cNvSpPr txBox="1"/>
          <p:nvPr/>
        </p:nvSpPr>
        <p:spPr>
          <a:xfrm>
            <a:off x="7" y="1185590"/>
            <a:ext cx="2710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21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000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15.2k</a:t>
            </a:r>
            <a:r>
              <a:rPr lang="es-ES" sz="1000" b="0" i="0" u="none" strike="noStrike" cap="none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K UC/mes</a:t>
            </a:r>
            <a:endParaRPr sz="1000" b="0" i="0" u="none" strike="noStrike" cap="none">
              <a:solidFill>
                <a:srgbClr val="333333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08" name="Google Shape;308;g3939145f930_0_698"/>
          <p:cNvSpPr/>
          <p:nvPr/>
        </p:nvSpPr>
        <p:spPr>
          <a:xfrm>
            <a:off x="-1371394" y="1443018"/>
            <a:ext cx="4086097" cy="548640"/>
          </a:xfrm>
          <a:custGeom>
            <a:avLst/>
            <a:gdLst/>
            <a:ahLst/>
            <a:cxnLst/>
            <a:rect l="l" t="t" r="r" b="b"/>
            <a:pathLst>
              <a:path w="4540108" h="609600" extrusionOk="0">
                <a:moveTo>
                  <a:pt x="203200" y="609600"/>
                </a:moveTo>
                <a:lnTo>
                  <a:pt x="4336908" y="609600"/>
                </a:lnTo>
                <a:lnTo>
                  <a:pt x="4540108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4242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939145f930_0_698"/>
          <p:cNvSpPr/>
          <p:nvPr/>
        </p:nvSpPr>
        <p:spPr>
          <a:xfrm>
            <a:off x="-1189375" y="2014851"/>
            <a:ext cx="3721649" cy="548640"/>
          </a:xfrm>
          <a:custGeom>
            <a:avLst/>
            <a:gdLst/>
            <a:ahLst/>
            <a:cxnLst/>
            <a:rect l="l" t="t" r="r" b="b"/>
            <a:pathLst>
              <a:path w="4135165" h="609600" extrusionOk="0">
                <a:moveTo>
                  <a:pt x="203200" y="609600"/>
                </a:moveTo>
                <a:lnTo>
                  <a:pt x="3931965" y="609600"/>
                </a:lnTo>
                <a:lnTo>
                  <a:pt x="4135165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77777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939145f930_0_698"/>
          <p:cNvSpPr/>
          <p:nvPr/>
        </p:nvSpPr>
        <p:spPr>
          <a:xfrm>
            <a:off x="-862098" y="2582017"/>
            <a:ext cx="3115720" cy="548640"/>
          </a:xfrm>
          <a:custGeom>
            <a:avLst/>
            <a:gdLst/>
            <a:ahLst/>
            <a:cxnLst/>
            <a:rect l="l" t="t" r="r" b="b"/>
            <a:pathLst>
              <a:path w="3323435" h="609600" extrusionOk="0">
                <a:moveTo>
                  <a:pt x="203200" y="609600"/>
                </a:moveTo>
                <a:lnTo>
                  <a:pt x="3120235" y="609600"/>
                </a:lnTo>
                <a:lnTo>
                  <a:pt x="3323435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DAF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939145f930_0_698"/>
          <p:cNvSpPr txBox="1"/>
          <p:nvPr/>
        </p:nvSpPr>
        <p:spPr>
          <a:xfrm>
            <a:off x="3390701" y="1632838"/>
            <a:ext cx="4405500" cy="1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74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del volumen estimado se concentra en el 20% de los clientes 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g3939145f930_0_698"/>
          <p:cNvCxnSpPr/>
          <p:nvPr/>
        </p:nvCxnSpPr>
        <p:spPr>
          <a:xfrm>
            <a:off x="2632610" y="1585415"/>
            <a:ext cx="660000" cy="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313" name="Google Shape;313;g3939145f930_0_698"/>
          <p:cNvSpPr txBox="1"/>
          <p:nvPr/>
        </p:nvSpPr>
        <p:spPr>
          <a:xfrm>
            <a:off x="0" y="1500811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Potencial</a:t>
            </a:r>
            <a:endParaRPr sz="21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g3939145f930_0_698"/>
          <p:cNvSpPr txBox="1"/>
          <p:nvPr/>
        </p:nvSpPr>
        <p:spPr>
          <a:xfrm>
            <a:off x="0" y="2127620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 canal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939145f930_0_698"/>
          <p:cNvSpPr txBox="1"/>
          <p:nvPr/>
        </p:nvSpPr>
        <p:spPr>
          <a:xfrm>
            <a:off x="1" y="2690949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Ciudad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939145f930_0_698"/>
          <p:cNvSpPr txBox="1"/>
          <p:nvPr/>
        </p:nvSpPr>
        <p:spPr>
          <a:xfrm>
            <a:off x="3282025" y="1190729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Very High y </a:t>
            </a:r>
            <a:r>
              <a:rPr lang="es-ES" sz="1200" b="1" i="0" u="none" strike="noStrike" cap="none" dirty="0" err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high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11.3k UC/mes - 3.6K clientes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17" name="Google Shape;317;g3939145f930_0_698"/>
          <p:cNvCxnSpPr/>
          <p:nvPr/>
        </p:nvCxnSpPr>
        <p:spPr>
          <a:xfrm rot="10800000" flipH="1">
            <a:off x="2436116" y="2190819"/>
            <a:ext cx="886200" cy="600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318" name="Google Shape;318;g3939145f930_0_698"/>
          <p:cNvSpPr txBox="1"/>
          <p:nvPr/>
        </p:nvSpPr>
        <p:spPr>
          <a:xfrm>
            <a:off x="3282025" y="1807914"/>
            <a:ext cx="654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000" b="1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ABARROTES y OTROS ABARROTES LOCALES O TRADICIONALES </a:t>
            </a:r>
            <a:r>
              <a:rPr lang="es-ES" sz="10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s-ES" sz="10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7.4k UC/mes - 2.2K clientes</a:t>
            </a:r>
            <a:r>
              <a:rPr lang="es-ES" sz="10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0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9" name="Google Shape;319;g3939145f930_0_698"/>
          <p:cNvSpPr txBox="1"/>
          <p:nvPr/>
        </p:nvSpPr>
        <p:spPr>
          <a:xfrm>
            <a:off x="3390701" y="2215534"/>
            <a:ext cx="4405500" cy="1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Este subcanal concentra el 49% del volumen y el 1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 los comercios</a:t>
            </a:r>
            <a:endParaRPr sz="900" b="0" i="0" u="none" strike="noStrike" cap="none">
              <a:solidFill>
                <a:srgbClr val="33333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320" name="Google Shape;320;g3939145f930_0_698"/>
          <p:cNvCxnSpPr/>
          <p:nvPr/>
        </p:nvCxnSpPr>
        <p:spPr>
          <a:xfrm rot="10800000" flipH="1">
            <a:off x="2239604" y="2862956"/>
            <a:ext cx="1045800" cy="1200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321" name="Google Shape;321;g3939145f930_0_698"/>
          <p:cNvSpPr txBox="1"/>
          <p:nvPr/>
        </p:nvSpPr>
        <p:spPr>
          <a:xfrm>
            <a:off x="3383612" y="2848579"/>
            <a:ext cx="53205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grueso de la oportunidad se encuentra en estas ciudades que concentra el 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23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del volumen y 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6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 los POS</a:t>
            </a:r>
            <a:endParaRPr sz="900" b="0" i="0" u="none" strike="noStrike" cap="none">
              <a:solidFill>
                <a:srgbClr val="33333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22" name="Google Shape;322;g3939145f930_0_698"/>
          <p:cNvSpPr txBox="1"/>
          <p:nvPr/>
        </p:nvSpPr>
        <p:spPr>
          <a:xfrm>
            <a:off x="3282025" y="2396269"/>
            <a:ext cx="568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Tepic y Puerto Vallarta 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3.5k UC/mes - 1.1K clientes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39145f930_0_726"/>
          <p:cNvSpPr txBox="1"/>
          <p:nvPr/>
        </p:nvSpPr>
        <p:spPr>
          <a:xfrm>
            <a:off x="1690475" y="140950"/>
            <a:ext cx="568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Ultrasegmentación Single Serve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939145f930_0_726"/>
          <p:cNvSpPr txBox="1"/>
          <p:nvPr/>
        </p:nvSpPr>
        <p:spPr>
          <a:xfrm>
            <a:off x="-274073" y="4137781"/>
            <a:ext cx="2710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21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000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18.1</a:t>
            </a:r>
            <a:r>
              <a:rPr lang="es-ES" sz="1000" b="0" i="0" u="none" strike="noStrike" cap="none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k UC/mes</a:t>
            </a:r>
            <a:endParaRPr sz="1000" b="0" i="0" u="none" strike="noStrike" cap="none">
              <a:solidFill>
                <a:srgbClr val="333333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29" name="Google Shape;329;g3939145f930_0_726"/>
          <p:cNvSpPr txBox="1"/>
          <p:nvPr/>
        </p:nvSpPr>
        <p:spPr>
          <a:xfrm>
            <a:off x="45955" y="3866214"/>
            <a:ext cx="2277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100" b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1200</a:t>
            </a:r>
            <a:r>
              <a:rPr lang="es-ES" sz="11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Clientes segmentados</a:t>
            </a:r>
            <a:endParaRPr sz="1100" b="1" i="0" u="none" strike="noStrike" cap="none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30" name="Google Shape;330;g3939145f930_0_726"/>
          <p:cNvCxnSpPr/>
          <p:nvPr/>
        </p:nvCxnSpPr>
        <p:spPr>
          <a:xfrm>
            <a:off x="193650" y="784753"/>
            <a:ext cx="8805600" cy="0"/>
          </a:xfrm>
          <a:prstGeom prst="straightConnector1">
            <a:avLst/>
          </a:prstGeom>
          <a:noFill/>
          <a:ln w="9525" cap="flat" cmpd="sng">
            <a:solidFill>
              <a:srgbClr val="EEFF4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1" name="Google Shape;331;g3939145f930_0_726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939145f930_0_726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333" name="Google Shape;333;g3939145f930_0_726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334" name="Google Shape;334;g3939145f930_0_7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939145f930_0_726"/>
          <p:cNvSpPr txBox="1"/>
          <p:nvPr/>
        </p:nvSpPr>
        <p:spPr>
          <a:xfrm>
            <a:off x="0" y="917050"/>
            <a:ext cx="2972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100" b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18.4</a:t>
            </a:r>
            <a:r>
              <a:rPr lang="es-ES" sz="11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K Clientes Actuales Single Serve</a:t>
            </a:r>
            <a:endParaRPr sz="1100" b="1" i="0" u="none" strike="noStrike" cap="none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" name="Google Shape;336;g3939145f930_0_726"/>
          <p:cNvSpPr txBox="1"/>
          <p:nvPr/>
        </p:nvSpPr>
        <p:spPr>
          <a:xfrm>
            <a:off x="7" y="1185590"/>
            <a:ext cx="2710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321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ES" sz="1000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75.2k</a:t>
            </a:r>
            <a:r>
              <a:rPr lang="es-ES" sz="1000" b="0" i="0" u="none" strike="noStrike" cap="none">
                <a:solidFill>
                  <a:srgbClr val="33333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K UC/mes</a:t>
            </a:r>
            <a:endParaRPr sz="1000" b="0" i="0" u="none" strike="noStrike" cap="none">
              <a:solidFill>
                <a:srgbClr val="333333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37" name="Google Shape;337;g3939145f930_0_726"/>
          <p:cNvSpPr/>
          <p:nvPr/>
        </p:nvSpPr>
        <p:spPr>
          <a:xfrm>
            <a:off x="-1371394" y="1443018"/>
            <a:ext cx="4086097" cy="548640"/>
          </a:xfrm>
          <a:custGeom>
            <a:avLst/>
            <a:gdLst/>
            <a:ahLst/>
            <a:cxnLst/>
            <a:rect l="l" t="t" r="r" b="b"/>
            <a:pathLst>
              <a:path w="4540108" h="609600" extrusionOk="0">
                <a:moveTo>
                  <a:pt x="203200" y="609600"/>
                </a:moveTo>
                <a:lnTo>
                  <a:pt x="4336908" y="609600"/>
                </a:lnTo>
                <a:lnTo>
                  <a:pt x="4540108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4242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939145f930_0_726"/>
          <p:cNvSpPr/>
          <p:nvPr/>
        </p:nvSpPr>
        <p:spPr>
          <a:xfrm>
            <a:off x="-1189375" y="2014851"/>
            <a:ext cx="3721649" cy="548640"/>
          </a:xfrm>
          <a:custGeom>
            <a:avLst/>
            <a:gdLst/>
            <a:ahLst/>
            <a:cxnLst/>
            <a:rect l="l" t="t" r="r" b="b"/>
            <a:pathLst>
              <a:path w="4135165" h="609600" extrusionOk="0">
                <a:moveTo>
                  <a:pt x="203200" y="609600"/>
                </a:moveTo>
                <a:lnTo>
                  <a:pt x="3931965" y="609600"/>
                </a:lnTo>
                <a:lnTo>
                  <a:pt x="4135165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77777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939145f930_0_726"/>
          <p:cNvSpPr/>
          <p:nvPr/>
        </p:nvSpPr>
        <p:spPr>
          <a:xfrm>
            <a:off x="-862098" y="2582017"/>
            <a:ext cx="3115720" cy="548640"/>
          </a:xfrm>
          <a:custGeom>
            <a:avLst/>
            <a:gdLst/>
            <a:ahLst/>
            <a:cxnLst/>
            <a:rect l="l" t="t" r="r" b="b"/>
            <a:pathLst>
              <a:path w="3323435" h="609600" extrusionOk="0">
                <a:moveTo>
                  <a:pt x="203200" y="609600"/>
                </a:moveTo>
                <a:lnTo>
                  <a:pt x="3120235" y="609600"/>
                </a:lnTo>
                <a:lnTo>
                  <a:pt x="3323435" y="0"/>
                </a:lnTo>
                <a:lnTo>
                  <a:pt x="0" y="0"/>
                </a:lnTo>
                <a:lnTo>
                  <a:pt x="203200" y="609600"/>
                </a:lnTo>
                <a:close/>
              </a:path>
            </a:pathLst>
          </a:custGeom>
          <a:solidFill>
            <a:srgbClr val="DAF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3939145f930_0_726"/>
          <p:cNvSpPr txBox="1"/>
          <p:nvPr/>
        </p:nvSpPr>
        <p:spPr>
          <a:xfrm>
            <a:off x="3390701" y="1632838"/>
            <a:ext cx="4405500" cy="1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76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del volumen estimado se concentra en el 20% de los clientes 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g3939145f930_0_726"/>
          <p:cNvCxnSpPr/>
          <p:nvPr/>
        </p:nvCxnSpPr>
        <p:spPr>
          <a:xfrm>
            <a:off x="2632610" y="1585415"/>
            <a:ext cx="660000" cy="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342" name="Google Shape;342;g3939145f930_0_726"/>
          <p:cNvSpPr txBox="1"/>
          <p:nvPr/>
        </p:nvSpPr>
        <p:spPr>
          <a:xfrm>
            <a:off x="0" y="1500811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Potencial</a:t>
            </a:r>
            <a:endParaRPr sz="21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g3939145f930_0_726"/>
          <p:cNvSpPr txBox="1"/>
          <p:nvPr/>
        </p:nvSpPr>
        <p:spPr>
          <a:xfrm>
            <a:off x="0" y="2127620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 canal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939145f930_0_726"/>
          <p:cNvSpPr txBox="1"/>
          <p:nvPr/>
        </p:nvSpPr>
        <p:spPr>
          <a:xfrm>
            <a:off x="1" y="2690949"/>
            <a:ext cx="1850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424242"/>
                </a:solidFill>
                <a:latin typeface="Poppins"/>
                <a:ea typeface="Poppins"/>
                <a:cs typeface="Poppins"/>
                <a:sym typeface="Poppins"/>
              </a:rPr>
              <a:t>Ciudad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939145f930_0_726"/>
          <p:cNvSpPr txBox="1"/>
          <p:nvPr/>
        </p:nvSpPr>
        <p:spPr>
          <a:xfrm>
            <a:off x="3292610" y="1161302"/>
            <a:ext cx="52578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Very High y </a:t>
            </a:r>
            <a:r>
              <a:rPr lang="es-ES" sz="1200" b="1" i="0" u="none" strike="noStrike" cap="none" dirty="0" err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high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57.3k UC/mes - 3.7K clientes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46" name="Google Shape;346;g3939145f930_0_726"/>
          <p:cNvCxnSpPr/>
          <p:nvPr/>
        </p:nvCxnSpPr>
        <p:spPr>
          <a:xfrm rot="10800000" flipH="1">
            <a:off x="2436116" y="2190819"/>
            <a:ext cx="886200" cy="600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347" name="Google Shape;347;g3939145f930_0_726"/>
          <p:cNvSpPr txBox="1"/>
          <p:nvPr/>
        </p:nvSpPr>
        <p:spPr>
          <a:xfrm>
            <a:off x="3285404" y="1803377"/>
            <a:ext cx="654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ABARROTES y OTROS ABARROTES LOCALES O TRADICIONALES </a:t>
            </a:r>
            <a:r>
              <a:rPr lang="es-ES" sz="10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s-ES" sz="1000" b="1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35.8k UC/mes - 2.2K clientes</a:t>
            </a:r>
            <a:r>
              <a:rPr lang="es-ES" sz="10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000" b="1" i="0" u="none" strike="noStrike" cap="none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g3939145f930_0_726"/>
          <p:cNvSpPr txBox="1"/>
          <p:nvPr/>
        </p:nvSpPr>
        <p:spPr>
          <a:xfrm>
            <a:off x="3390701" y="2215534"/>
            <a:ext cx="4405500" cy="1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 dirty="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Este </a:t>
            </a:r>
            <a:r>
              <a:rPr lang="es-ES" sz="900" b="0" i="0" u="none" strike="noStrike" cap="none" dirty="0" err="1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subcanal</a:t>
            </a:r>
            <a:r>
              <a:rPr lang="es-ES" sz="900" b="0" i="0" u="none" strike="noStrike" cap="none" dirty="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 concentra el 48% del volumen y el 1</a:t>
            </a:r>
            <a:r>
              <a:rPr lang="es-ES" sz="900" dirty="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r>
              <a:rPr lang="es-ES" sz="900" b="0" i="0" u="none" strike="noStrike" cap="none" dirty="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 los comercios</a:t>
            </a:r>
            <a:endParaRPr sz="900" b="0" i="0" u="none" strike="noStrike" cap="none" dirty="0">
              <a:solidFill>
                <a:srgbClr val="33333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349" name="Google Shape;349;g3939145f930_0_726"/>
          <p:cNvCxnSpPr/>
          <p:nvPr/>
        </p:nvCxnSpPr>
        <p:spPr>
          <a:xfrm rot="10800000" flipH="1">
            <a:off x="2239604" y="2862956"/>
            <a:ext cx="1045800" cy="12000"/>
          </a:xfrm>
          <a:prstGeom prst="straightConnector1">
            <a:avLst/>
          </a:prstGeom>
          <a:noFill/>
          <a:ln w="28575" cap="rnd" cmpd="sng">
            <a:solidFill>
              <a:srgbClr val="333333"/>
            </a:solidFill>
            <a:prstDash val="solid"/>
            <a:round/>
            <a:headEnd type="oval" w="lg" len="lg"/>
            <a:tailEnd type="stealth" w="med" len="med"/>
          </a:ln>
        </p:spPr>
      </p:cxnSp>
      <p:sp>
        <p:nvSpPr>
          <p:cNvPr id="350" name="Google Shape;350;g3939145f930_0_726"/>
          <p:cNvSpPr txBox="1"/>
          <p:nvPr/>
        </p:nvSpPr>
        <p:spPr>
          <a:xfrm>
            <a:off x="3383612" y="2848579"/>
            <a:ext cx="53205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grueso de la oportunidad se encuentra en estas ciudades que concentra el </a:t>
            </a:r>
            <a:r>
              <a:rPr lang="es-ES" sz="900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24</a:t>
            </a:r>
            <a:r>
              <a:rPr lang="es-ES" sz="900" b="0" i="0" u="none" strike="noStrike" cap="none">
                <a:solidFill>
                  <a:srgbClr val="333333"/>
                </a:solidFill>
                <a:latin typeface="Poppins Light"/>
                <a:ea typeface="Poppins Light"/>
                <a:cs typeface="Poppins Light"/>
                <a:sym typeface="Poppins Light"/>
              </a:rPr>
              <a:t>% del volumen y 6% de los POS</a:t>
            </a:r>
            <a:endParaRPr sz="900" b="0" i="0" u="none" strike="noStrike" cap="none">
              <a:solidFill>
                <a:srgbClr val="333333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1" name="Google Shape;351;g3939145f930_0_726"/>
          <p:cNvSpPr txBox="1"/>
          <p:nvPr/>
        </p:nvSpPr>
        <p:spPr>
          <a:xfrm>
            <a:off x="3285404" y="2395691"/>
            <a:ext cx="5689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2633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Tepic y Puerto Vallarta 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s-ES" sz="1200" b="1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18.1k UC/mes - 1.2K clientes</a:t>
            </a:r>
            <a:r>
              <a:rPr lang="es-ES" sz="1200" b="1" i="0" u="none" strike="noStrike" cap="none" dirty="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 b="1" i="0" u="none" strike="noStrike" cap="none" dirty="0">
              <a:solidFill>
                <a:srgbClr val="33333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E8AB3EB3-1B1C-7D22-C319-65ABF7CC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c7ced402f_1_185">
            <a:extLst>
              <a:ext uri="{FF2B5EF4-FFF2-40B4-BE49-F238E27FC236}">
                <a16:creationId xmlns:a16="http://schemas.microsoft.com/office/drawing/2014/main" id="{D80D41F8-BEAB-C9FB-6036-51045B40AE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46850" y="2384600"/>
            <a:ext cx="22062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ES" sz="2300">
                <a:solidFill>
                  <a:srgbClr val="E5FF01"/>
                </a:solidFill>
                <a:latin typeface="Space Grotesk"/>
                <a:ea typeface="Space Grotesk"/>
                <a:cs typeface="Space Grotesk"/>
                <a:sym typeface="Space Grotesk"/>
              </a:rPr>
              <a:t>Brecha de Capitalización</a:t>
            </a:r>
            <a:endParaRPr sz="2300">
              <a:solidFill>
                <a:srgbClr val="E5FF0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35" name="Google Shape;235;g35c7ced402f_1_185">
            <a:extLst>
              <a:ext uri="{FF2B5EF4-FFF2-40B4-BE49-F238E27FC236}">
                <a16:creationId xmlns:a16="http://schemas.microsoft.com/office/drawing/2014/main" id="{D2D776EF-D176-125A-2BBF-51E0374BA143}"/>
              </a:ext>
            </a:extLst>
          </p:cNvPr>
          <p:cNvSpPr txBox="1"/>
          <p:nvPr/>
        </p:nvSpPr>
        <p:spPr>
          <a:xfrm>
            <a:off x="4083550" y="1844600"/>
            <a:ext cx="16200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0"/>
              <a:buFont typeface="Arial"/>
              <a:buNone/>
            </a:pPr>
            <a:r>
              <a:rPr lang="es-ES" sz="10000" b="1" dirty="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 3</a:t>
            </a:r>
            <a:endParaRPr sz="10000" b="1" i="0" u="none" strike="noStrike" cap="none" dirty="0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10729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61CF18EB-269B-3348-26AC-4EBF78A0C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324d589d8_0_20">
            <a:extLst>
              <a:ext uri="{FF2B5EF4-FFF2-40B4-BE49-F238E27FC236}">
                <a16:creationId xmlns:a16="http://schemas.microsoft.com/office/drawing/2014/main" id="{D6EF72E4-E67A-4C1C-9248-7B06049AC84D}"/>
              </a:ext>
            </a:extLst>
          </p:cNvPr>
          <p:cNvSpPr txBox="1"/>
          <p:nvPr/>
        </p:nvSpPr>
        <p:spPr>
          <a:xfrm>
            <a:off x="214300" y="103175"/>
            <a:ext cx="86358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dk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</a:rPr>
              <a:t>Brecha de Capitalización – Total Portafolio</a:t>
            </a:r>
            <a:r>
              <a:rPr lang="es-ES" b="1" i="0" u="none" strike="noStrike" cap="none" dirty="0">
                <a:solidFill>
                  <a:schemeClr val="dk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r>
              <a:rPr lang="es-ES" b="0" i="0" u="none" strike="noStrike" cap="none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s-ES" b="0" i="0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La mayor brecha de crecimiento la encontramos en ABARROTES que tiene un crecimiento de +28 potencial adicional mensual. ABARROTES muestra la mejor relación potencial/base (9%), alta eficiencia de conversión.</a:t>
            </a:r>
            <a:endParaRPr b="0" i="0" u="none" strike="noStrike" cap="none" dirty="0">
              <a:solidFill>
                <a:srgbClr val="111111"/>
              </a:solidFill>
              <a:latin typeface="Albert Sans" panose="020B0604020202020204" charset="0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1" name="Google Shape;221;g39324d589d8_0_20">
            <a:extLst>
              <a:ext uri="{FF2B5EF4-FFF2-40B4-BE49-F238E27FC236}">
                <a16:creationId xmlns:a16="http://schemas.microsoft.com/office/drawing/2014/main" id="{27CC600E-8136-C70E-2502-2A0F33B66E28}"/>
              </a:ext>
            </a:extLst>
          </p:cNvPr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9324d589d8_0_20">
            <a:extLst>
              <a:ext uri="{FF2B5EF4-FFF2-40B4-BE49-F238E27FC236}">
                <a16:creationId xmlns:a16="http://schemas.microsoft.com/office/drawing/2014/main" id="{C9B021A9-9134-435C-D51A-A0DF725DF1D8}"/>
              </a:ext>
            </a:extLst>
          </p:cNvPr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23" name="Google Shape;223;g39324d589d8_0_20">
            <a:extLst>
              <a:ext uri="{FF2B5EF4-FFF2-40B4-BE49-F238E27FC236}">
                <a16:creationId xmlns:a16="http://schemas.microsoft.com/office/drawing/2014/main" id="{AE387C91-C48B-B7B1-31B9-0FBB6703A3AD}"/>
              </a:ext>
            </a:extLst>
          </p:cNvPr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224" name="Google Shape;224;g39324d589d8_0_20">
            <a:extLst>
              <a:ext uri="{FF2B5EF4-FFF2-40B4-BE49-F238E27FC236}">
                <a16:creationId xmlns:a16="http://schemas.microsoft.com/office/drawing/2014/main" id="{8DC5ED94-3D14-9573-D14E-63F665AC17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7" name="Google Shape;227;g39324d589d8_0_20">
            <a:extLst>
              <a:ext uri="{FF2B5EF4-FFF2-40B4-BE49-F238E27FC236}">
                <a16:creationId xmlns:a16="http://schemas.microsoft.com/office/drawing/2014/main" id="{84BCC677-4F50-02A5-258C-6AA9638641D9}"/>
              </a:ext>
            </a:extLst>
          </p:cNvPr>
          <p:cNvCxnSpPr/>
          <p:nvPr/>
        </p:nvCxnSpPr>
        <p:spPr>
          <a:xfrm>
            <a:off x="135900" y="987140"/>
            <a:ext cx="8872200" cy="10200"/>
          </a:xfrm>
          <a:prstGeom prst="straightConnector1">
            <a:avLst/>
          </a:prstGeom>
          <a:noFill/>
          <a:ln w="19050" cap="flat" cmpd="sng">
            <a:solidFill>
              <a:srgbClr val="E5FF0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8528402-56E5-CF99-8AF3-FC4A65A9CE20}"/>
              </a:ext>
            </a:extLst>
          </p:cNvPr>
          <p:cNvSpPr txBox="1"/>
          <p:nvPr/>
        </p:nvSpPr>
        <p:spPr>
          <a:xfrm>
            <a:off x="83269" y="4225077"/>
            <a:ext cx="8538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1" dirty="0">
                <a:solidFill>
                  <a:srgbClr val="555555"/>
                </a:solidFill>
                <a:latin typeface="Albert Sans"/>
              </a:rPr>
              <a:t>Comparación entre la venta promedio actual (UC/mes) y el potencial adicional estimado por PDV. La barra verde representa la oportunidad de crecimiento mensual no capitalizada. Un +X mayor indica mayor retorno esperado por PDV.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9E6102C-8D85-6D25-AEE6-A2C093A10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850" y="1232751"/>
            <a:ext cx="5912246" cy="267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47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61CF18EB-269B-3348-26AC-4EBF78A0C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324d589d8_0_20">
            <a:extLst>
              <a:ext uri="{FF2B5EF4-FFF2-40B4-BE49-F238E27FC236}">
                <a16:creationId xmlns:a16="http://schemas.microsoft.com/office/drawing/2014/main" id="{D6EF72E4-E67A-4C1C-9248-7B06049AC84D}"/>
              </a:ext>
            </a:extLst>
          </p:cNvPr>
          <p:cNvSpPr txBox="1"/>
          <p:nvPr/>
        </p:nvSpPr>
        <p:spPr>
          <a:xfrm>
            <a:off x="214300" y="103175"/>
            <a:ext cx="86358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dk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</a:rPr>
              <a:t>Brecha de Capitalización – Coca Cola</a:t>
            </a:r>
            <a:r>
              <a:rPr lang="es-ES" b="1" i="0" u="none" strike="noStrike" cap="none" dirty="0">
                <a:solidFill>
                  <a:schemeClr val="dk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r>
              <a:rPr lang="es-ES" b="0" i="0" u="none" strike="noStrike" cap="none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s-ES" b="0" i="0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La mayor brecha de crecimiento la encontramos en ABARROTES que tiene un crecimiento de +17 potencial adicional mensual. HOGAR CON VENTA muestra la mejor relación potencial/base (10%), alta eficiencia de conversión.</a:t>
            </a:r>
            <a:endParaRPr b="0" i="0" u="none" strike="noStrike" cap="none" dirty="0">
              <a:solidFill>
                <a:srgbClr val="111111"/>
              </a:solidFill>
              <a:latin typeface="Albert Sans" panose="020B0604020202020204" charset="0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1" name="Google Shape;221;g39324d589d8_0_20">
            <a:extLst>
              <a:ext uri="{FF2B5EF4-FFF2-40B4-BE49-F238E27FC236}">
                <a16:creationId xmlns:a16="http://schemas.microsoft.com/office/drawing/2014/main" id="{27CC600E-8136-C70E-2502-2A0F33B66E28}"/>
              </a:ext>
            </a:extLst>
          </p:cNvPr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9324d589d8_0_20">
            <a:extLst>
              <a:ext uri="{FF2B5EF4-FFF2-40B4-BE49-F238E27FC236}">
                <a16:creationId xmlns:a16="http://schemas.microsoft.com/office/drawing/2014/main" id="{C9B021A9-9134-435C-D51A-A0DF725DF1D8}"/>
              </a:ext>
            </a:extLst>
          </p:cNvPr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23" name="Google Shape;223;g39324d589d8_0_20">
            <a:extLst>
              <a:ext uri="{FF2B5EF4-FFF2-40B4-BE49-F238E27FC236}">
                <a16:creationId xmlns:a16="http://schemas.microsoft.com/office/drawing/2014/main" id="{AE387C91-C48B-B7B1-31B9-0FBB6703A3AD}"/>
              </a:ext>
            </a:extLst>
          </p:cNvPr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224" name="Google Shape;224;g39324d589d8_0_20">
            <a:extLst>
              <a:ext uri="{FF2B5EF4-FFF2-40B4-BE49-F238E27FC236}">
                <a16:creationId xmlns:a16="http://schemas.microsoft.com/office/drawing/2014/main" id="{8DC5ED94-3D14-9573-D14E-63F665AC17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7" name="Google Shape;227;g39324d589d8_0_20">
            <a:extLst>
              <a:ext uri="{FF2B5EF4-FFF2-40B4-BE49-F238E27FC236}">
                <a16:creationId xmlns:a16="http://schemas.microsoft.com/office/drawing/2014/main" id="{84BCC677-4F50-02A5-258C-6AA9638641D9}"/>
              </a:ext>
            </a:extLst>
          </p:cNvPr>
          <p:cNvCxnSpPr/>
          <p:nvPr/>
        </p:nvCxnSpPr>
        <p:spPr>
          <a:xfrm>
            <a:off x="135900" y="987140"/>
            <a:ext cx="8872200" cy="10200"/>
          </a:xfrm>
          <a:prstGeom prst="straightConnector1">
            <a:avLst/>
          </a:prstGeom>
          <a:noFill/>
          <a:ln w="19050" cap="flat" cmpd="sng">
            <a:solidFill>
              <a:srgbClr val="E5FF0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8528402-56E5-CF99-8AF3-FC4A65A9CE20}"/>
              </a:ext>
            </a:extLst>
          </p:cNvPr>
          <p:cNvSpPr txBox="1"/>
          <p:nvPr/>
        </p:nvSpPr>
        <p:spPr>
          <a:xfrm>
            <a:off x="83269" y="4225077"/>
            <a:ext cx="8538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1" dirty="0">
                <a:solidFill>
                  <a:srgbClr val="555555"/>
                </a:solidFill>
                <a:latin typeface="Albert Sans"/>
              </a:rPr>
              <a:t>Comparación entre la venta promedio actual (UC/mes) y el potencial adicional estimado por PDV. La barra verde representa la oportunidad de crecimiento mensual no capitalizada. Un +X mayor indica mayor retorno esperado por PDV.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9E6102C-8D85-6D25-AEE6-A2C093A10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850" y="1232751"/>
            <a:ext cx="5912246" cy="267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47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61CF18EB-269B-3348-26AC-4EBF78A0C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324d589d8_0_20">
            <a:extLst>
              <a:ext uri="{FF2B5EF4-FFF2-40B4-BE49-F238E27FC236}">
                <a16:creationId xmlns:a16="http://schemas.microsoft.com/office/drawing/2014/main" id="{D6EF72E4-E67A-4C1C-9248-7B06049AC84D}"/>
              </a:ext>
            </a:extLst>
          </p:cNvPr>
          <p:cNvSpPr txBox="1"/>
          <p:nvPr/>
        </p:nvSpPr>
        <p:spPr>
          <a:xfrm>
            <a:off x="214300" y="103175"/>
            <a:ext cx="86358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dk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</a:rPr>
              <a:t>Brecha de Capitalización – Sparkling Flavors</a:t>
            </a:r>
            <a:r>
              <a:rPr lang="es-ES" b="1" i="0" u="none" strike="noStrike" cap="none" dirty="0">
                <a:solidFill>
                  <a:schemeClr val="dk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r>
              <a:rPr lang="es-ES" b="0" i="0" u="none" strike="noStrike" cap="none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s-ES" b="0" i="0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La mayor brecha de crecimiento la encontramos en ABARROTES que tiene un crecimiento de +2 potencial adicional mensual. OTROS LICOR/CERVEZA/ muestra la mejor relación potencial/base (11%), alta eficiencia de conversión.</a:t>
            </a:r>
            <a:endParaRPr b="0" i="0" u="none" strike="noStrike" cap="none" dirty="0">
              <a:solidFill>
                <a:srgbClr val="111111"/>
              </a:solidFill>
              <a:latin typeface="Albert Sans" panose="020B0604020202020204" charset="0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1" name="Google Shape;221;g39324d589d8_0_20">
            <a:extLst>
              <a:ext uri="{FF2B5EF4-FFF2-40B4-BE49-F238E27FC236}">
                <a16:creationId xmlns:a16="http://schemas.microsoft.com/office/drawing/2014/main" id="{27CC600E-8136-C70E-2502-2A0F33B66E28}"/>
              </a:ext>
            </a:extLst>
          </p:cNvPr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9324d589d8_0_20">
            <a:extLst>
              <a:ext uri="{FF2B5EF4-FFF2-40B4-BE49-F238E27FC236}">
                <a16:creationId xmlns:a16="http://schemas.microsoft.com/office/drawing/2014/main" id="{C9B021A9-9134-435C-D51A-A0DF725DF1D8}"/>
              </a:ext>
            </a:extLst>
          </p:cNvPr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23" name="Google Shape;223;g39324d589d8_0_20">
            <a:extLst>
              <a:ext uri="{FF2B5EF4-FFF2-40B4-BE49-F238E27FC236}">
                <a16:creationId xmlns:a16="http://schemas.microsoft.com/office/drawing/2014/main" id="{AE387C91-C48B-B7B1-31B9-0FBB6703A3AD}"/>
              </a:ext>
            </a:extLst>
          </p:cNvPr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224" name="Google Shape;224;g39324d589d8_0_20">
            <a:extLst>
              <a:ext uri="{FF2B5EF4-FFF2-40B4-BE49-F238E27FC236}">
                <a16:creationId xmlns:a16="http://schemas.microsoft.com/office/drawing/2014/main" id="{8DC5ED94-3D14-9573-D14E-63F665AC17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7" name="Google Shape;227;g39324d589d8_0_20">
            <a:extLst>
              <a:ext uri="{FF2B5EF4-FFF2-40B4-BE49-F238E27FC236}">
                <a16:creationId xmlns:a16="http://schemas.microsoft.com/office/drawing/2014/main" id="{84BCC677-4F50-02A5-258C-6AA9638641D9}"/>
              </a:ext>
            </a:extLst>
          </p:cNvPr>
          <p:cNvCxnSpPr/>
          <p:nvPr/>
        </p:nvCxnSpPr>
        <p:spPr>
          <a:xfrm>
            <a:off x="135900" y="987140"/>
            <a:ext cx="8872200" cy="10200"/>
          </a:xfrm>
          <a:prstGeom prst="straightConnector1">
            <a:avLst/>
          </a:prstGeom>
          <a:noFill/>
          <a:ln w="19050" cap="flat" cmpd="sng">
            <a:solidFill>
              <a:srgbClr val="E5FF0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8528402-56E5-CF99-8AF3-FC4A65A9CE20}"/>
              </a:ext>
            </a:extLst>
          </p:cNvPr>
          <p:cNvSpPr txBox="1"/>
          <p:nvPr/>
        </p:nvSpPr>
        <p:spPr>
          <a:xfrm>
            <a:off x="83269" y="4225077"/>
            <a:ext cx="8538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1" dirty="0">
                <a:solidFill>
                  <a:srgbClr val="555555"/>
                </a:solidFill>
                <a:latin typeface="Albert Sans"/>
              </a:rPr>
              <a:t>Comparación entre la venta promedio actual (UC/mes) y el potencial adicional estimado por PDV. La barra verde representa la oportunidad de crecimiento mensual no capitalizada. Un +X mayor indica mayor retorno esperado por PDV.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9E6102C-8D85-6D25-AEE6-A2C093A10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850" y="1232751"/>
            <a:ext cx="5912246" cy="267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47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>
          <a:extLst>
            <a:ext uri="{FF2B5EF4-FFF2-40B4-BE49-F238E27FC236}">
              <a16:creationId xmlns:a16="http://schemas.microsoft.com/office/drawing/2014/main" id="{61CF18EB-269B-3348-26AC-4EBF78A0C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324d589d8_0_20">
            <a:extLst>
              <a:ext uri="{FF2B5EF4-FFF2-40B4-BE49-F238E27FC236}">
                <a16:creationId xmlns:a16="http://schemas.microsoft.com/office/drawing/2014/main" id="{D6EF72E4-E67A-4C1C-9248-7B06049AC84D}"/>
              </a:ext>
            </a:extLst>
          </p:cNvPr>
          <p:cNvSpPr txBox="1"/>
          <p:nvPr/>
        </p:nvSpPr>
        <p:spPr>
          <a:xfrm>
            <a:off x="214300" y="103175"/>
            <a:ext cx="86358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dk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</a:rPr>
              <a:t>Brecha de Capitalización – Single Serve</a:t>
            </a:r>
            <a:r>
              <a:rPr lang="es-ES" b="1" i="0" u="none" strike="noStrike" cap="none" dirty="0">
                <a:solidFill>
                  <a:schemeClr val="dk1"/>
                </a:solidFill>
                <a:highlight>
                  <a:srgbClr val="EEFF41"/>
                </a:highlight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r>
              <a:rPr lang="es-ES" b="0" i="0" u="none" strike="noStrike" cap="none" dirty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s-ES" b="0" i="0" u="none" strike="noStrike" cap="none" dirty="0">
                <a:solidFill>
                  <a:schemeClr val="dk1"/>
                </a:solidFill>
                <a:latin typeface="Albert Sans" panose="020B0604020202020204" charset="0"/>
                <a:ea typeface="Space Grotesk"/>
                <a:cs typeface="Space Grotesk"/>
                <a:sym typeface="Space Grotesk"/>
              </a:rPr>
              <a:t>La mayor brecha de crecimiento la encontramos en ABARROTES que tiene un crecimiento de +9 potencial adicional mensual. HOGAR CON VENTA muestra la mejor relación potencial/base (10%), alta eficiencia de conversión.</a:t>
            </a:r>
            <a:endParaRPr b="0" i="0" u="none" strike="noStrike" cap="none" dirty="0">
              <a:solidFill>
                <a:srgbClr val="111111"/>
              </a:solidFill>
              <a:latin typeface="Albert Sans" panose="020B0604020202020204" charset="0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21" name="Google Shape;221;g39324d589d8_0_20">
            <a:extLst>
              <a:ext uri="{FF2B5EF4-FFF2-40B4-BE49-F238E27FC236}">
                <a16:creationId xmlns:a16="http://schemas.microsoft.com/office/drawing/2014/main" id="{27CC600E-8136-C70E-2502-2A0F33B66E28}"/>
              </a:ext>
            </a:extLst>
          </p:cNvPr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9324d589d8_0_20">
            <a:extLst>
              <a:ext uri="{FF2B5EF4-FFF2-40B4-BE49-F238E27FC236}">
                <a16:creationId xmlns:a16="http://schemas.microsoft.com/office/drawing/2014/main" id="{C9B021A9-9134-435C-D51A-A0DF725DF1D8}"/>
              </a:ext>
            </a:extLst>
          </p:cNvPr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23" name="Google Shape;223;g39324d589d8_0_20">
            <a:extLst>
              <a:ext uri="{FF2B5EF4-FFF2-40B4-BE49-F238E27FC236}">
                <a16:creationId xmlns:a16="http://schemas.microsoft.com/office/drawing/2014/main" id="{AE387C91-C48B-B7B1-31B9-0FBB6703A3AD}"/>
              </a:ext>
            </a:extLst>
          </p:cNvPr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224" name="Google Shape;224;g39324d589d8_0_20">
            <a:extLst>
              <a:ext uri="{FF2B5EF4-FFF2-40B4-BE49-F238E27FC236}">
                <a16:creationId xmlns:a16="http://schemas.microsoft.com/office/drawing/2014/main" id="{8DC5ED94-3D14-9573-D14E-63F665AC17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7" name="Google Shape;227;g39324d589d8_0_20">
            <a:extLst>
              <a:ext uri="{FF2B5EF4-FFF2-40B4-BE49-F238E27FC236}">
                <a16:creationId xmlns:a16="http://schemas.microsoft.com/office/drawing/2014/main" id="{84BCC677-4F50-02A5-258C-6AA9638641D9}"/>
              </a:ext>
            </a:extLst>
          </p:cNvPr>
          <p:cNvCxnSpPr/>
          <p:nvPr/>
        </p:nvCxnSpPr>
        <p:spPr>
          <a:xfrm>
            <a:off x="135900" y="987140"/>
            <a:ext cx="8872200" cy="10200"/>
          </a:xfrm>
          <a:prstGeom prst="straightConnector1">
            <a:avLst/>
          </a:prstGeom>
          <a:noFill/>
          <a:ln w="19050" cap="flat" cmpd="sng">
            <a:solidFill>
              <a:srgbClr val="E5FF0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8528402-56E5-CF99-8AF3-FC4A65A9CE20}"/>
              </a:ext>
            </a:extLst>
          </p:cNvPr>
          <p:cNvSpPr txBox="1"/>
          <p:nvPr/>
        </p:nvSpPr>
        <p:spPr>
          <a:xfrm>
            <a:off x="83269" y="4225077"/>
            <a:ext cx="8538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1" dirty="0">
                <a:solidFill>
                  <a:srgbClr val="555555"/>
                </a:solidFill>
                <a:latin typeface="Albert Sans"/>
              </a:rPr>
              <a:t>Comparación entre la venta promedio actual (UC/mes) y el potencial adicional estimado por PDV. La barra verde representa la oportunidad de crecimiento mensual no capitalizada. Un +X mayor indica mayor retorno esperado por PDV.</a:t>
            </a: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9E6102C-8D85-6D25-AEE6-A2C093A10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850" y="1232751"/>
            <a:ext cx="5912246" cy="267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47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6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g3c672b7d57d_0_103"/>
          <p:cNvPicPr preferRelativeResize="0"/>
          <p:nvPr/>
        </p:nvPicPr>
        <p:blipFill rotWithShape="1">
          <a:blip r:embed="rId3">
            <a:alphaModFix/>
          </a:blip>
          <a:srcRect l="69672" b="13134"/>
          <a:stretch/>
        </p:blipFill>
        <p:spPr>
          <a:xfrm>
            <a:off x="6370825" y="0"/>
            <a:ext cx="2773176" cy="44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c672b7d57d_0_103"/>
          <p:cNvSpPr txBox="1"/>
          <p:nvPr/>
        </p:nvSpPr>
        <p:spPr>
          <a:xfrm>
            <a:off x="304800" y="301075"/>
            <a:ext cx="34290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-ES" sz="2000" b="0" i="0" u="none" strike="noStrike" cap="none">
                <a:solidFill>
                  <a:schemeClr val="accent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Siguientes pasos</a:t>
            </a:r>
            <a:endParaRPr sz="2000" b="0" i="0" u="none" strike="noStrike" cap="none">
              <a:solidFill>
                <a:schemeClr val="accent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20" name="Google Shape;420;g3c672b7d57d_0_103"/>
          <p:cNvSpPr txBox="1"/>
          <p:nvPr/>
        </p:nvSpPr>
        <p:spPr>
          <a:xfrm>
            <a:off x="304800" y="946150"/>
            <a:ext cx="5724900" cy="3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lang="es-ES" sz="14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Validar accesos a VTM Platform.</a:t>
            </a:r>
            <a:endParaRPr sz="14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lang="es-ES" sz="14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Entregar listados con potencial.</a:t>
            </a:r>
            <a:endParaRPr sz="14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lang="es-ES" sz="1400" b="1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Feedback</a:t>
            </a:r>
            <a:r>
              <a:rPr lang="es-ES" sz="14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resultados y definición de siguientes pasos.</a:t>
            </a:r>
            <a:endParaRPr sz="14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175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</a:pPr>
            <a:r>
              <a:rPr lang="es-ES" sz="14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Salida a campo para medir modelo y reiterar de ser necesario.</a:t>
            </a:r>
            <a:endParaRPr sz="14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1" name="Google Shape;421;g3c672b7d57d_0_103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22" name="Google Shape;422;g3c672b7d57d_0_103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23" name="Google Shape;423;g3c672b7d57d_0_103"/>
          <p:cNvPicPr preferRelativeResize="0"/>
          <p:nvPr/>
        </p:nvPicPr>
        <p:blipFill rotWithShape="1">
          <a:blip r:embed="rId4">
            <a:alphaModFix/>
          </a:blip>
          <a:srcRect t="88" b="88"/>
          <a:stretch/>
        </p:blipFill>
        <p:spPr>
          <a:xfrm>
            <a:off x="131750" y="4779201"/>
            <a:ext cx="1236828" cy="32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F0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g3164a788909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67125" y="4512649"/>
            <a:ext cx="2468824" cy="3892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164a788909_0_6"/>
          <p:cNvSpPr/>
          <p:nvPr/>
        </p:nvSpPr>
        <p:spPr>
          <a:xfrm>
            <a:off x="545575" y="812725"/>
            <a:ext cx="6576900" cy="1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Work Sans Black"/>
              <a:buNone/>
            </a:pPr>
            <a:r>
              <a:rPr lang="es-ES" sz="7200" b="1" i="0" u="none" strike="noStrike" cap="none" dirty="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</a:t>
            </a:r>
            <a:br>
              <a:rPr lang="es-ES" sz="7200" b="1" i="0" u="none" strike="noStrike" cap="none" dirty="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s-ES" sz="7200" b="1" i="0" u="none" strike="noStrike" cap="none" dirty="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rPr>
              <a:t>Knowledge in</a:t>
            </a:r>
            <a:endParaRPr sz="7200" b="1" i="0" u="none" strike="noStrike" cap="none" dirty="0">
              <a:solidFill>
                <a:srgbClr val="2223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1" name="Google Shape;431;g3164a788909_0_6"/>
          <p:cNvSpPr txBox="1"/>
          <p:nvPr/>
        </p:nvSpPr>
        <p:spPr>
          <a:xfrm>
            <a:off x="545575" y="3348849"/>
            <a:ext cx="3121200" cy="171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"/>
                  </a:ext>
                </a:extLst>
              </a:rPr>
              <a:t>Contactos:</a:t>
            </a:r>
            <a:endParaRPr sz="1400" b="0" i="0" u="none" strike="noStrike" cap="none"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sng" strike="noStrike" cap="none" dirty="0">
                <a:solidFill>
                  <a:schemeClr val="tx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natalia.gomez@kinanalytics.com</a:t>
            </a:r>
            <a:endParaRPr lang="es-ES" sz="1400" b="0" i="0" u="sng" strike="noStrike" cap="none" dirty="0">
              <a:solidFill>
                <a:schemeClr val="tx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sng" strike="noStrike" cap="none" dirty="0">
                <a:solidFill>
                  <a:schemeClr val="tx1"/>
                </a:solid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paula.lara@kinanalytics.com</a:t>
            </a:r>
            <a:endParaRPr sz="1400" b="0" i="0" u="sng" strike="noStrike" cap="none" dirty="0">
              <a:solidFill>
                <a:schemeClr val="tx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sng" strike="noStrike" cap="none" dirty="0">
                <a:solidFill>
                  <a:schemeClr val="tx1"/>
                </a:solidFill>
                <a:latin typeface="Albert Sans"/>
                <a:ea typeface="Albert Sans"/>
                <a:cs typeface="Albert Sans"/>
                <a:sym typeface="Albert Sans"/>
              </a:rPr>
              <a:t>nicolas.ayala</a:t>
            </a:r>
            <a:r>
              <a:rPr lang="es-ES" sz="1400" b="0" i="0" u="sng" strike="noStrike" cap="none" dirty="0">
                <a:solidFill>
                  <a:schemeClr val="tx1"/>
                </a:solidFill>
                <a:latin typeface="Albert Sans"/>
                <a:ea typeface="Albert Sans"/>
                <a:cs typeface="Albert Sans"/>
                <a:sym typeface="Albert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@kinanalytics.co</a:t>
            </a:r>
            <a:r>
              <a:rPr lang="es-ES" sz="1400" b="0" i="0" u="sng" strike="noStrike" cap="none" dirty="0">
                <a:solidFill>
                  <a:schemeClr val="tx1"/>
                </a:solidFill>
                <a:latin typeface="Albert Sans"/>
                <a:ea typeface="Albert Sans"/>
                <a:cs typeface="Albert Sans"/>
                <a:sym typeface="Albert Sans"/>
              </a:rPr>
              <a:t>m</a:t>
            </a:r>
            <a:endParaRPr sz="1400" b="0" i="0" u="sng" strike="noStrike" cap="none" dirty="0">
              <a:solidFill>
                <a:schemeClr val="tx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sng" strike="noStrike" cap="none" dirty="0">
                <a:solidFill>
                  <a:schemeClr val="tx1"/>
                </a:solidFill>
                <a:latin typeface="Albert Sans"/>
                <a:ea typeface="Albert Sans"/>
                <a:cs typeface="Albert Sans"/>
                <a:sym typeface="Albert Sans"/>
              </a:rPr>
              <a:t>andre.sarmiento@kinanalytics.com</a:t>
            </a:r>
            <a:endParaRPr sz="1400" b="0" i="0" u="sng" strike="noStrike" cap="none" dirty="0">
              <a:solidFill>
                <a:schemeClr val="tx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2116</Words>
  <Application>Microsoft Office PowerPoint</Application>
  <PresentationFormat>On-screen Show (16:9)</PresentationFormat>
  <Paragraphs>366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Work Sans</vt:lpstr>
      <vt:lpstr>Arial</vt:lpstr>
      <vt:lpstr>Open Sans</vt:lpstr>
      <vt:lpstr>Space Grotesk Medium</vt:lpstr>
      <vt:lpstr>Work Sans Black</vt:lpstr>
      <vt:lpstr>Albert Sans Light</vt:lpstr>
      <vt:lpstr>Albert Sans SemiBold</vt:lpstr>
      <vt:lpstr>Albert Sans Medium</vt:lpstr>
      <vt:lpstr>Albert Sans</vt:lpstr>
      <vt:lpstr>Poppins Light</vt:lpstr>
      <vt:lpstr>Poppins</vt:lpstr>
      <vt:lpstr>Calibri</vt:lpstr>
      <vt:lpstr>Space Grotesk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Resultados de potencial por categoría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Prioridades</vt:lpstr>
      <vt:lpstr>PowerPoint Presentation</vt:lpstr>
      <vt:lpstr>PowerPoint Presentation</vt:lpstr>
      <vt:lpstr>PowerPoint Presentation</vt:lpstr>
      <vt:lpstr>PowerPoint Presentation</vt:lpstr>
      <vt:lpstr>Brecha de Capitalización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André Sarmiento</cp:lastModifiedBy>
  <cp:revision>5</cp:revision>
  <dcterms:modified xsi:type="dcterms:W3CDTF">2026-06-26T15:31:27Z</dcterms:modified>
</cp:coreProperties>
</file>